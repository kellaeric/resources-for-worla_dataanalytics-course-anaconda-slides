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ink/ink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ink/ink4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5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2" r:id="rId4"/>
    <p:sldId id="273" r:id="rId5"/>
    <p:sldId id="271" r:id="rId6"/>
    <p:sldId id="274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MLVE5ZQhmSk6Z0aREicYkr045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DF9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F0FDF9"/>
                </a:solidFill>
                <a:latin typeface="Arial"/>
              </a:rPr>
              <a:t>GroupBy Example: Avg Salary by Dept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7F3-47A2-9B98-CA4EC66BDD47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F3-47A2-9B98-CA4EC66BDD47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F3-47A2-9B98-CA4EC66BDD47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7F3-47A2-9B98-CA4EC66BDD4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0FDF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IT</c:v>
                </c:pt>
                <c:pt idx="1">
                  <c:v>HR</c:v>
                </c:pt>
                <c:pt idx="2">
                  <c:v>Finance</c:v>
                </c:pt>
                <c:pt idx="3">
                  <c:v>Sales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3100</c:v>
                </c:pt>
                <c:pt idx="2">
                  <c:v>4800</c:v>
                </c:pt>
                <c:pt idx="3">
                  <c:v>3600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7F3-47A2-9B98-CA4EC66BDD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2A35"/>
    </a:solidFill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5-21T19:10:45.478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3070 4074 0,'-38'0'16,"57"0"46,0 0-62,18 0 16,0 0-16,37 0 16,38 0-16,111 0 15,-55 0-15,-1 0 16,1 0-16,18 0 15,-56 0-15,0-18 16,0 18-16,38 0 16,-94 0-16,1 0 15,-20 0-15,20 0 16,-57 0 0,20 0 30,-57 0 204,0 0 204,-18 0-189,19 0-234,-57 0-15,19 0-16,-74 0 16,0 0-16,0 0 15,37 0-15,-38 0 16,57 0-16,37 0 16,-19 0-16,37-19 15,-18 19-15,19 0 16,-20 0 46,20 0-46,-19 0 0,18 0-1,-18 0-15,18 0 0,-18 0 16,-37 0-1,55 0-15,-18-37 16,-1 37 0,20 0-16,-19 0 15,18 0 1,-55 0 0,36 0-16,-17 0 15,-20 0-15,57 0 16,-20 0-16</inkml:trace>
  <inkml:trace contextRef="#ctx0" brushRef="#br0" timeOffset="1823.99">5042 3553 0,'0'19'109,"0"18"-93,0-18-16,0 18 0,0-19 15,0 38 1,0 19-16,0-38 15,37 19-15,-19 18 16,-18 1-16,38-38 16,-20 19-16,38-19 15,-37-19-15,-19 38 16,37-56-16,-37 37 16,18-18-1</inkml:trace>
  <inkml:trace contextRef="#ctx0" brushRef="#br0" timeOffset="2814.99">5414 3721 0,'-19'0'32,"-18"56"61,37-38-77,0 19-16,0-18 16,-19 18-16,19-18 15,0 18-15,0-18 16</inkml:trace>
  <inkml:trace contextRef="#ctx0" brushRef="#br0" timeOffset="4314.99">5693 3795 0,'0'19'78,"0"-1"-46,0 20-17,18-38 188,1 0-203,-1 0 16,20 18-16,-20-18 16,20 37-16,-20-37 15,19 38 1,-18-38 0,-19 18-1,37-18-15,-37 37 16,19-37-16,-19 19 31,37-19 32,-37 56-48,0-38 16,-19 20-31,19-20 32,-18-18-17,-19 0-15,18 0 32,-18 0-32,18 37 15,-18-37 1,18 0-1,-18 19-15,18-19 16,-18 0 0,19 0-1,-20 0 95,20 0-79</inkml:trace>
  <inkml:trace contextRef="#ctx0" brushRef="#br0" timeOffset="5514.99">5804 3721 0,'38'0'156,"-38"37"-140,18-37-1,19 0 1,-18 0 0,18 0-16,-18 0 15,18 0-15,19 0 0,-38 0 16,1 0 0,0 0-16,-1 0 15,38 0-15,-37 0 16,-1 0-16,1 0 15</inkml:trace>
  <inkml:trace contextRef="#ctx0" brushRef="#br0" timeOffset="6465.99">6567 3702 0,'0'0'0,"19"0"16,92 112 0,-74-56-1,1-1-15,-38 20 16,37-57-16,-19 38 15,-18-37-15,0 18 16,0 0-16,0-18 16,0 37-16,0 18 15,0-55 1,0 18 0,0-19-1,-37-18 1,19 56-16,-57 0 15,38-37 1,0 18-16,0-37 16,18 0-16,-18 0 15,18 0 1,-18 0 0,18 0 15</inkml:trace>
  <inkml:trace contextRef="#ctx0" brushRef="#br0" timeOffset="12547.99">13692 3609 0,'0'37'125,"0"38"-109,0-19-16,0-1 15,0 1-15,-56 19 16,56-57-16,0 19 16,-18-18-16,18 18 15,0-18-15,0 18 16,0-18-16,0 18 16,0-19-16,0 20 15,0-20-15,37 19 16,-18-18-1,-19 18-15,0 19 16,55-37 0,-55 18-16,19-37 15,18 18-15,-37 20 16,0-20 0,19 19-1,18-18 1,-37 37-1,56-38 1</inkml:trace>
  <inkml:trace contextRef="#ctx0" brushRef="#br0" timeOffset="17667.99">13953 3944 0,'18'37'141,"1"-18"-126,-19 18-15,18-37 16,-18 19-16,0 18 31,0 19 235,0-38-250,0 57-16,0-38 15,0-19-15,0 20 16,0-20-16,0 19 15,0-18 17,-37-19 77,19 0-93</inkml:trace>
  <inkml:trace contextRef="#ctx0" brushRef="#br0" timeOffset="19205.99">14511 4018 0,'-19'38'109,"19"-20"-109,0 19 16,-18-18 0,18 0-1,0-1-15,0 1 16,0 18-1,0-18 17,0-1-1,0 1-15,37-19 77,-19 0-77,20 0 0,-20 0-16,19 18 15,-18-18-15,18 0 16,-18 56 15,18-56-31,-37 19 16,19-19-1,-19 37 17,37-37-17,-37 19-15,18-19 16,1 37-16,0-19 15,-1 20-15,-18-20 16,56 19-16,-37-18 16,-19 18-16,0-18 15,0 18-15,0-18 16,0 18 0,0-19-1,-38-18 48,20 0-48,-19 0-15,-38 38 16,57-38-16,-20 0 16,20 0-16,-57 0 15,38 0 1,19 0-1,-20 0 1,20-19-16,-19 19 16,18 0-16,-18-19 15,37-18 1,-19 37-16</inkml:trace>
  <inkml:trace contextRef="#ctx0" brushRef="#br0" timeOffset="20576.99">14585 4018 0,'19'0'94,"-1"0"-94,20 0 16,36 0-16,-55 0 15,18 0-15,-19 0 16,38 0 0,-19 0-16,38 0 0,-1 0 15,-18 0 1,18 0-16,-55 0 16,18-18-1</inkml:trace>
  <inkml:trace contextRef="#ctx0" brushRef="#br0" timeOffset="21687.99">15236 3646 0,'0'0'0,"19"0"15,18 37-15,38 1 16,-1-1-16,0-18 16,-55 36-16,18-36 15,-18-19-15,-19 37 16,18-37-1,1 19 1,18 18-16,-18 37 16,37-36-16,-38 17 15,1-17-15,37 36 16,-56-55 0,37 18-1,-37-19-15,18 20 16,-18-20-16,0 19 15,0-18-15,38 18 16,-38-18 0,0 37-16,0-1 15,0 1-15,0-19 16,0 19-16,0-19 16,0 19-16,-19 0 15,-18-19-15,37-18 16,-37 0-16,37 18 15,-19-19 1,19 20 0,-37-38 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5-21T19:14:12.881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4093 5451 0,'0'0'0,"-37"0"63,18 0-32,-18 0-15,18-19-1,-18 19-15,18 0 0,-18 0 16,19 0-1,-20-18-15,20 18 16,-19 0-16,18-19 16,-18 19-16,18 0 15,-18 0 1,37-56-16,-19 56 16,-37 0-1,-18 0 1,37 0-16,-38 0 15,57 0-15,-38 0 16,-18 0-16,36 0 16,20 0-16,-19 0 15,18 0-15,-37 0 16,19 0-16,0 0 16,-38 0-16,1 0 15,18 0-15,-18 0 16,55 37-16,-55-37 15,18 0-15,-19 0 16,1 0 0,37 0-16,-19 0 0,37 0 15,-55 0 1,37 0-16,18 0 16,-37 0-16,38 0 15,-38 0-15,37 0 16,-55-18-16,37 18 15,18 0-15,-37-37 16,19 37-16,19 0 16,-20 0-16,38-38 187,19 38-109,-19-18-78,0-19 16,19 18-16,-19-18 16,37 18-16,-37-18 15,0 18 1,18 19 109,-18-37-110,38 37 17,-20 0 15,19 0-1,-18 0 79,18 0-109,-18 0 0,18 0-16,-18 0 15,18 0 1,-37-18-16,74 18 16,-55 0-1,18 0 1,-18-38-1,18 38 17,-19 0-32,20 0 31,-38-18 0,18 18 0,-18-37 16,37 37 31,-37-19 141,19 19-172,18 0-16,-18-56 1,37 56-17,-56-18 1,55 18-1,-17 0 32,-20 0-15,20 0-32,-20 0 15,-18-38-15,37 38 31,-18 0-15,18-18 0,-18 18-1,18 0 1,-18 0-16,18 0 16,-19 0-1,20 0 1,-20 0-1,19 0 1,-18 0 0,18 0-1,-18 0 1,18 0 15,-18 0-15,18 0 15,-19 0 63,-18 18-79,38-18-15,-38 38 32,18-38-32,19 0 31,1 0 0,-38 18-31,18-18 16,38 37-16,-37-37 15,18 0-15,-37 19 16,18-19 0,20 0-1,-20 0-15,19 0 16,-18 0 0,18 56-1,-18-56-15,18 0 0,-18 0 16,18 18-1,-18-18 1,18 0 0,-37 19 46,37-19-31,-18 0 16,-19 19-15,37-19-17,-19 0 16,20 0 1,-20 0-17,-18 37-15,19-37 47,-1 0-47,1 0 110,18 0-79,-37 18 47,19-18-62</inkml:trace>
  <inkml:trace contextRef="#ctx0" brushRef="#br0" timeOffset="2499.98">5693 5525 0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5-21T19:17:57.024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14994 5451 0,'0'0'0,"19"0"0,18 56 31,-37-38 16,19 19-32,-19-18 1,37-19 31,-18 0 31,18 0-62,-37 37-16,18-37 15,-18 19 1,38-19-1,-20 0 1,-18 18 15,0 1-31,37 0 32,-18-19 14,-19 18-46,0 1 16</inkml:trace>
  <inkml:trace contextRef="#ctx0" brushRef="#br0" timeOffset="3756">16576 5730 0,'18'0'47,"1"0"-31,0 0-16,36 0 15,-17 0-15,36 0 16,-18 0-16,-19 0 16,37 0-16,1 0 15,-38 0-15,37 0 16,-36 0-16,-20 0 16,-18-19 77,37 19 79,-18 0-78,18 0-47,-18 0-32,-19-37 17,37 37-1,-18 0 203</inkml:trace>
  <inkml:trace contextRef="#ctx0" brushRef="#br0" timeOffset="28824.4">15087 12706 0,'56'-37'63,"-37"37"-63,18-19 16,-18 19-16,36-37 15,-17 37-15,-1 0 16,19-18-16,-38 18 15,38 0-15,-19 0 16,-18 0-16,37 0 16,-19 0-16,-18 0 15,36-38 1,-36 38-16,18 0 16,-18-18-16,18 18 15,0 0 32,-18 0 31,18 0-15,-18 0-16,18 0-32,-19 37 32,20-37-16,-20 0 16,19 0-31,-37 19-1,19-19-15,37 0 16,18 37-16,-37-37 16,38 37-16,-1-37 15,-36 19-15,36-1 16,0-18-16,19 19 16,-55-19-16,-20 0 15,19 37 16,-18-37 532,18-19-547,-18 19-1,18-18-15,-18 18 16,18 0-1,-19 0-15,20 0 16</inkml:trace>
  <inkml:trace contextRef="#ctx0" brushRef="#br0" timeOffset="29631.09">10381 12985 0</inkml:trace>
  <inkml:trace contextRef="#ctx0" brushRef="#br0" timeOffset="33370.08">1972 12018 0,'0'0'0,"74"0"0,-55 0 16,18 18-16,-18-18 16,37 0-16,-19 0 15,37 0 1,19 0-16,37 0 16,1 0-16,-94 0 15,0 0-15,-18 0 94,18 0-32,-18 0-46,18 0 0,0 0 15,0 0-31,38 0 16,-1 0-16,-37 0 15,19 0-15,-37 0 0,18 0 31,19 0 1,-38 0 15</inkml:trace>
  <inkml:trace contextRef="#ctx0" brushRef="#br0" timeOffset="42518.97">10009 11199 0,'0'19'250,"0"0"-235,0-1-15,0 19 16,37-37-1,-37 19 1,19-19 62,18 0-62,37 0-16,1-56 15,-57 56-15,19 0 16,-18 0-16,18-18 16,-18 18-1,-19-38 48,0 20-48,0-19 1,0 18 0,0-37 15,0 19-15,0 18-16,0-18 15,0 18 1,0-18-16,0 19 15,-37 18 17,37-56-17,-19 56 1,19-19 0,0-18 15,0 18 16,0-18 15,-37 37 1</inkml:trace>
  <inkml:trace contextRef="#ctx0" brushRef="#br0" timeOffset="43447.98">9953 11274 0,'18'0'47,"1"0"-31,37 0-16,-37 0 16,36-37-16,-36 37 15,18 0 1,-18-19-16,18 19 15,-18 0 1,-19-37-16,18 37 16,1 0-1,37-37 1,-38 37 0,19 0-16,-18-19 15,18 19-15,38-56 16,-20 56-1</inkml:trace>
  <inkml:trace contextRef="#ctx0" brushRef="#br0" timeOffset="44519.98">10716 11125 0,'0'37'31,"37"-18"-15,-19 18 0,-18-18-1,38 18 1,-38-56 156,-19 1-157,19-57-15,0 19 16,0 0 0,-19 38-1</inkml:trace>
  <inkml:trace contextRef="#ctx0" brushRef="#br0" timeOffset="46119.98">11106 11255 0,'0'19'31,"38"-19"-31,-57 0 172,19-37-156,0 18-1,0-18-15,0-38 16,0 57-16,0-20 15,0 20 17,-19 18 186,19 37-218,-56 38 16,38-57-16,-19 19 16,37-18-16,-56 55 15,56-36 1,0-20 93,18-18 63,1 0-109,18 0-16,-18 0-32,18 0-15,-18-56 16,-19 38-1,37 18 1,-37-37 0,19 18-16,18-18 31,-19 18-15,-18-18 93</inkml:trace>
  <inkml:trace contextRef="#ctx0" brushRef="#br0" timeOffset="46991.98">11423 11348 0,'0'0'0,"37"0"16,-37 19 62,0 18 0,0-18-63,0 18-15,0-19 16,18-18 0,-18 38-1,0-20 17,0 1 14,0-1-30</inkml:trace>
  <inkml:trace contextRef="#ctx0" brushRef="#br0" timeOffset="48057.98">11460 10939 0,'37'37'63,"-37"-18"15,19 18-62,-19-19-1,18 20-15,1-20 16,-19 20 0,18-38-16,-18 18 15,38 19 1,-38-18 15,0 18 16,0-18-47,0 18 16,0-18-1,-19-19 48,0 0-1,-18 0-46,19 55-16,-20-55 78,20 0-31</inkml:trace>
  <inkml:trace contextRef="#ctx0" brushRef="#br0" timeOffset="48926.98">11795 11274 0</inkml:trace>
  <inkml:trace contextRef="#ctx0" brushRef="#br0" timeOffset="50791.98">11925 11255 0,'0'0'0,"-19"37"16,19 1-16,0 17 15,-37-36 1,37 18 15,0-18 0,-19-19 48,-18 0-64,19 0 1,18-37-16,0 18 15,-56-37-15,56 38 16,37-57-16,-18 19 16,18-18-16,-19 55 15,20 19 1,-38-37 0,18 37 46,19 0-62,-18 0 94,37 0-79,-56 19 1,0-1 15,56 20 1,-38-1-17,-18 0-15,19 19 16,-1-38-16,-18 38 15,38-19-15,-20-18 16,-18 0-16,0-1 16,0 1-1,0 18 17,38-37-1</inkml:trace>
  <inkml:trace contextRef="#ctx0" brushRef="#br0" timeOffset="52630.97">12371 11292 0,'0'0'0,"-74"112"16,74-93-1,0 18 32,0-19 94,37-18-63,-18 0-62,-1 0 15,-18-37 31,0 19-15,19 18-47,-19-38 16,74 38-16,-74-18 15,38-19-15,-20 37 16,19 0-16,-18-19 16,18 19 15,-37-56-31,19 56 31,18 0 125,-37 37 1,0 19-157,0-19 15,0-18 1,0 0-16,0 18 16,0-19-16,0 20 31,-19-38 47,1 0-62,-19 0-1,18 0 63</inkml:trace>
  <inkml:trace contextRef="#ctx0" brushRef="#br0" timeOffset="54038.98">12595 11292 0,'0'-18'125,"-19"18"-47,-18 0-62,18 0-16,-18 0 15,37-19-15,-19 19 16,-18 0 0,19 0-16,-20 0 15,20 0 63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5-21T19:19:15.867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2270 10716 0,'37'0'63,"0"0"-63,37 0 15,-36 0-15,-1 0 16,37 0-16,1 0 16,18 0-16,-37 0 15,37 0-15,-19 0 16,56 18-16,0-18 15,1 0-15,-113 19 16,38-19-16,18 0 16,1 0-16,-57 56 15,20-56-15,-20 0 16,19 18-16,-18-18 31,18 0 0,-18 0 79,18 0-79,-18 0 0,-1 0 79,1 0 124</inkml:trace>
  <inkml:trace contextRef="#ctx0" brushRef="#br0" timeOffset="3747">2456 5823 0,'37'0'110,"-19"0"-110,38 0 15,0 0-15,19 0 16,-1 0-16,-18 0 16,18 0-16,1 0 15,18 0-15,37 0 16,0 0-16,-74 0 15,18 0-15,-18 0 16,18 0-16,-55 0 16,37 0-16,-19 0 15,-18 0 1,-1 0 0,1 0-16,0 0 31,18 0-16,-19 0 1,20 0 0,-20 0-16,57 0 15,-38 0 1,-19 0 0,20 0-16,-20 0 15,19 0 1,1 0-16,-1-19 15,19 19-15,-1 0 16,-36 0-16,18 0 16,0 0-1,-18 0 17,0 0-32,-1 0 15,1 0 1,18 0 390</inkml:trace>
  <inkml:trace contextRef="#ctx0" brushRef="#br0" timeOffset="6170.79">2214 6865 0,'37'0'47,"-18"0"-31,18 0-16,19 0 16,-38 0-16,19 0 15,38 0-15,-1 0 16,-55 0-16,18 0 15,0 0-15,1 0 16,36 0-16,-37 0 16,38 0-16,-38 0 15,-19 0-15,20 0 16,-20 0 0,19 0-1,-18 0 1,18 0-1,19 0-15,-37 0 16,55 0-16,-37 0 16,0 0-1,1 0-15,-1 0 16,37 0-16,1 0 16,-38 0-16,19 0 15,-38 0-15,19 0 0,-18 0 31,18 0-15,-18 0 0,18 0-16,-18 0 15,18 0 1,-18 0 0,36 0 15,1 0-16,0 0 1,-19 0 15,-18 0-31,18 0 16,-18 0-16,18 0 16,-19 0-16,20 0 62,-20 0 172,19 0-202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6-05-21T19:22:55.172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19571 3683 0,'56'0'125,"37"0"-109,56 19-16,37-19 16,-19 37-1,19 19-15,0-19 16,-56-37-16,1 19 15,-38-19-15,-19 56 16,-18-56-16,0 0 16,-56 18 15,0 20 31,-38-20-46,-17 38-16,-1-19 16,-37 19-16,18 18 15,57-74-15,-57 19 16,20 55-16,-1-36 16,-19 17-1,19-36-15,38 0 16,-38 18-16,37-19 15,-36 20-15,17-20 16,-17 38 0,36-37-1,-18 36-15,37-17 16,-19-20-16,19 19 16,0-18-16,0 18 15,0-18 32,0 18-16,75 19-15,-1-37-16,19 36 16,-19-17-16,1-1 15,-1 0-15,-36 19 16,36-38-16,-55 20 15,55-20 1,-37 38-16,38-37 16,-57 18-16,19 0 15,-18 0-15,0-37 16,-1 19-16,-18 18 16,56 37-16,-37-18 15,-19 19-15,0-38 16,55 19-16,-55 0 15,0 18-15,0 0 16,0-18-16,0-19 16,0 38-16,-37-57 15,19 57-15,-20-38 16,38-18-16,-18 18 16,-38-37-16,0 0 15,38 56 1,-38-56-16,-19 74 15,20-55 1,-1-1-16,-19 38 16,1-37-16,-1-19 15,-55 18-15,74-18 16,-18 0-16,0 56 16,18-56-16,37 19 15,-18-19 1,18 0-16,-18 0 0,19 0 15,-57 0 1,38 0-16,18 0 16,-18 0-1,19 0-15,18-38 141,-38 38-125,20-18-16,18-19 15,-37-1-15,18 38 16,-18-37-16,18 19 31,-18-20-15,37 20-16,-19 18 15,19-37-15,0 18 47,0-18 578</inkml:trace>
  <inkml:trace contextRef="#ctx0" brushRef="#br1" timeOffset="23952">19292 6753 0,'18'0'203,"1"0"-203,0 0 16,18 19 31,-19-1-47,20-18 15,36 75-15,-55-75 16,55 56-16,-37-56 15,38 55-15,-57-36 16,20-19-16,-20 0 16,19 0-16,-37 37 15,19-37 1,18 19 78,-37 18-79,0-18 1,0 18 0,0-19-16,0 20 15,-37-1 1,37 19-1,-19-56-15,-18 74 16,19-55-16,-38-1 16,19 1-16,-1 18 15,1-18-15,19-19 16,-20 37-16,20-37 16,18 18-16,-38-18 15,20 0 63,18 56 110,37-56-141,-18 0-32,18 19-15,-18-19 16,-1 37-16,1-37 16,55 0-16,-37 37 15,38-37-15,-38 0 16,-18 0-16,18 0 15,-19 56 1,20-56 15,-20 0-15,19 0 0,-37 19 62,0-1-63,19 1-15,18 37 32,-18-38-32,-19 19 0,37-37 15,0 38-15,-37-20 16,37 20-16,-37-20 15,19 19 1,-19-18 0,0 18-1,0-18 1,37 18 0,-37-18-1,0 18 16,0-19-31,0 20 16,0-20 0,0 19-1,0-18 1,0 18 0,0-18 15,0 18-16,-18 19 1,18-38 0,-19 20-1,19 36 1,0-55 0,0 18-1,-56-37 16,38 0 1,-20 0-1,20 18-15,-19-18-1,18 0-15,-18 0 16,-19 38-16,-18-38 15,55 18-15,-37-18 16,-18 0-16,37 37 16,-38-37-16,57 0 15,-20 0 1,20 0 281,-20 0-250,20 0-47,-19 0 15,-19-18 17,56-1-17,-56 19-15,56-18 16,-56 18 46,38-38 32</inkml:trace>
  <inkml:trace contextRef="#ctx0" brushRef="#br1" timeOffset="39831">1581 9469 0,'38'0'63,"17"0"-63,-36 0 15,18 0 1,-18 0-16,37 0 16,-19 0-16,0 0 15,37 0-15,-36 0 16,-1 0-16,0 0 16,-18 0-16,55 0 15,-18 0-15,-19 0 16,56 0-16,37 0 15,0 0-15,1 0 16,-57 0-16,1 0 16,-20 0-16,20 0 15,-38 0-15,-18 0 16,18 0-16,-19 0 16,20 0 46,-20 0-46,19 0-1,-37-56-15,38 56 0,-1 0 16,37 0-16,-37-18 16,38 18-1,-1-19-15,1 19 16,-20 0-1,-36 0 1,18 0-16,1 0 16,-20 0-16,19 0 15,1 0-15,-1 0 16,37 0-16,-18 0 16,-37 0-16,55-18 15,-18 18-15,-19 0 16,0-56-16,0 56 15,1 0-15,36 0 16,-18 0-16,-19 0 16,-18 0-16,18 0 15,-19 0 1,1 0 0,0 0-16,-1 0 15,19 0-15,1 0 16,36 0-1,1 0-15,-57 0 16,19 0-16,-18-56 16,0 56-1,18 0-15,0 0 16,-18 0-16,18 0 0,37 0 16,-55 0-1,37 0-15,-38 0 16,1 0-16,37 0 15,-19 0-15,37 0 16,-55 0-16,37 0 16,-19 0-16,-19 0 15,20 0 1,-1 37 0,19-37-1,-19 0-15,37 0 16,1 0-16,18 0 15,56 0-15,-19 0 16,0 0-16,-37 0 16,-19 19-1,1-19-15,-19 0 0,18 37 16,0-37-16,-36 0 16,-20 0-1,-18 19 1,38-19-1,-1 0 17,37 0-32,-55 0 15,37 0-15,-19 0 16,-19 0-16,20 37 16,-20-37-16,57 0 15,-38 37-15,37-37 16,-37 37-16,-18-37 15,0 19-15,18-19 16,37 0-16,-55 0 16,37 0-16,18 0 15,-18 0-15,-19 0 16,37 0-16,1 0 16,-19 0-16,-19 0 15,37 0-15,-36 0 16,-1 0-16,19 0 15,-19 0-15,0 0 16,-18 0-16,18 0 16,37 0-16,-55 0 15,18 0 1,0 0-16,-18 0 16,18 0-16,-18 0 15,18 0 1,19 0-16,18 0 0,-55 0 15,36 0 1,20 0-16,-38 0 0,38 0 16,-20 0-1,20 0-15,-38 0 16,37 0-16,-36 0 16,36 0-16,-55 0 15,18 0-15,-19 0 16,20 0-16,-20 0 15,19 0-15,-18 0 16,18 0-16,-18 0 16,37-37-1,-19 37 1,-19 0-16,20 0 16,36 0-16,-55 0 15,18 0-15,-19 0 16,1 0-16,0 0 15,18 0 1,19 0-16,-38 0 16,20 0-1,36 0-15,-55 0 0,36 0 16,1 0-16,0 0 16,18 0-16,-36 0 15,-20 0-15,38 0 16,-19 0-1,38 0-15,-57 0 16,19 0-16,1 0 16,36 0-16,-37 0 15,-18 0-15,18 0 16,-18 0 0,18 0-1,0 0-15,-18 0 16,18 0-1,-18 0 1,18 0 0,-19 0-1,20 0-15,-20 18 16,19-18-16,-18 0 16,18 0-16,-18 0 15,37 37-15,-1-37 16,20 0-16,-19 0 15,-38 0-15,19 0 16,-18 0 0,0 0-16,-1 0 15,19 0 1,-18 0 15,18 0 0,19 0-15,-37 0 0,-1 0-16,19 0 15,-18 0-15,18 0 16,-18 0-16,18 0 16,-18 0-16,18 0 15,19 0-15,-38 0 16,20 0-16,-20 0 15,19 0-15,-18 0 16,18 0-16,-18 0 16,18 0-1,-18 0-15,18 0 16,-19 0 0,38-18-16,-19 18 15,-18 0-15,18 0 16,-18 0-16,18 0 15,-18 0 1,18 0-16,-19 0 16,20 0-1,-20 0 1,19 0 15,-18-19-15,18 19-1,-18 0-15,18 0 16,-18-37 0,18 37-1,-19 0-15,20 0 16,-20 0 0,19 0-16,38 0 15,-1 0-15,-55-56 16,18 56-16,38 0 15,-75-18-15,55 18 16,1-38 0,-37 38-1,18 0-15,-18 0 47,18-18-31,-19 18 15,20 0-15,-20 0-1,-18-19-15,37 19 16,1 0 0,-1-18-16,-19 18 15,1 0-15,18 0 16,-18 0-1,-19-38-15,37 38 16,-18 0 0,18 0-1,-19 0 1,-18-18-16,56 18 16,0 0-1,18 0 16,-36 0-15,-20-37-16,57 37 16,-38 0-16,-18 0 15,18 0-15,-19 0 16,20 0 0,-20 0-1,19-19 1,-18 19-1,0 0 1,-1 0-16,19 0 16,-18 0-1,18 0-15,0 0 16,38 0-16,-1 0 16,-37 0-16,19 0 15,19 0-15,-1 0 16,-55 0-16,18 0 15,-19 0-15,20 0 16,-20 0-16,38 0 16,19 0-16,-20 0 15,20 0-15,-38 0 16,-18 0-16,18 0 31</inkml:trace>
  <inkml:trace contextRef="#ctx0" brushRef="#br1" timeOffset="46184">1321 9711 0,'0'19'125,"0"55"-110,0-37-15,0 0 16,0-18-16,37-19 15,-37 37-15,0-18 63,0 18-32,0-18-15,0 18-16,0-18 15,0 18-15,0-19 16,0 20-16,0-20 16,19-18-16,-19 37 15,0-18-15,0 18 16,37 0 15,-37 1-15,0-20-1,18 19 17,-18-18 15,0 18-47,0-18 15,56 18 32,-56-18-31,0 18 171,0 0-156,0-18 1,56-19-1</inkml:trace>
  <inkml:trace contextRef="#ctx0" brushRef="#br2" timeOffset="57103">20055 9692 0,'18'-37'47,"38"19"-16,0 18 1,-38-56-32,20 56 15,-38-19 16,18 19 63,19 0-78,-18 37-1,18 1 32,-18-1-31,-1-19 0,1 20-1,37-20-15,-56 19 16,0-18-1,0 18-15,0-18 16,18 18 0,-18-18-16,0 18 31,0-19 0,0 1-31,0 0 16,0-1-16,-37 38 15,-37-19-15,55-18 16,-18 0-16,18 18 16,-36-37-16,55 18 15,-19 20-15,-18-38 16,18 0 15,19 18 235,37 38-235,-18-56-31,18 19 16,-18-19-1,37 18 1,-38-18-16,-18 19 16,37-19 15,-18 37-16,18-18-15,-18-19 16,18 37 0,-18-37-16,-19 18 62,-38-18 204,20 0-204,-19 0-15,18 0-47,19 38 16,-37-38-16,37 18 15,-56-18-15,37 56 16,19-37-16,-74-19 16,74 37-16,-37-37 15,37 18 1,-19-18 0,-18 0 202</inkml:trace>
  <inkml:trace contextRef="#ctx0" brushRef="#br2" timeOffset="59550">19850 12111 0,'56'0'0,"-112"0"0,149-19 15,-37 19-15,-19-37 16,19 37-16,-19 0 15,-18 0-15,36-19 16,-17 75 125,-38 19-141,0-38 15,0-18-15,0 36 16,-38-17-16,20-20 16,-19 38-16,18-37 15,19 18 1,-37-37-1,37 18 17,0 20 280,18-38-312,1 18 16,-19 19-1,37-37 1,-37 19 0,19-19-16,-19 19 31,0-1 0,37-18-31,-37 37 31,0-18-15,0 0 0,0-1-16,0 1 31,-19 18 47,1-37-62,-19 0-16,18 0 15,-37 0 1,19 0-16,18 0 16,-18 0 15,19 0 0,-20 0-15,20 0 31</inkml:trace>
  <inkml:trace contextRef="#ctx0" brushRef="#br2" timeOffset="66668">19683 10902 0,'37'0'110,"-19"0"-110,38-38 15,-19 38-15,1 0 16,17 0-16,-36 0 16,18 0-16,-18 0 31,18 56 31,-37-19-62,0-18 16,0 18-16,0 38 16,0-57-16,0 20 15,0 36 1,0-55-16,0 18 16,0-19-16,-19 20 15,1-38-15,-19 37 16,37-19-16,-19 1 15,-18-19-15,0 37 16,74-37 312,-19 0-312,20 0-16,-1 56 15,0-37 17,-37 18-17,19-19 17,-19 20-32,0-20 15,0 19 1,37-18-16,-37 18 31,18-37 16,-18 19 0,0 18-32,0-18 1,0 18 0,0-19-1,-37 38 17,-37-56-17,18 19 1,-18-19-16,-1 37 15,19-37-15,-18 37 16,0-37-16,55 0 16,-37 0-16,19 0 15,-38 0-15,20 0 16,36 0-16,-18 0 16,-38 0-16,57 0 15,-19 0 48</inkml:trace>
  <inkml:trace contextRef="#ctx0" brushRef="#br2" timeOffset="99084">19217 12818 0,'19'0'156,"0"0"-125,18 0-15,-19 0-1,-18 18 17,38-18-32,-20 0 31,-18 19-31,19-19 15,-1 37-15,1-18 16,-19 18 0,0-18-1,37-19-15,-37 37 16,0 37-16,0 1 16,0-57-16,0 19 15,0 19-15,0-37 16,0 18-16,0-18 15,0 18 1,-18-37 500</inkml:trace>
  <inkml:trace contextRef="#ctx0" brushRef="#br0" timeOffset="106520">19255 12799 0,'0'-18'47,"18"18"-32,1 0-15,18-38 16,-18 38-16,18 0 47,-19 0-31,20 0-1,-20 0-15,-18 19 16,37-19-16,-18 19 15,18 18 1,-37-19-16,19 20 16,37-1-16,-56-19 15,0 1-15,0 18 16,0-18-16,0 55 16,0-37-16,-37 38 15,37-19-15,0 18 16,-19-55-16,19 18 15,-37-37-15,37 19 16,-19-19-16,19 37 16,-37-37-1,55 18 204,57-18-219,-38 19 16,38-19-16,55 56 15,-37-56-15,-19 18 16,1 38 0,-75-37 109,0 18-110,0-18-15,-19 18 16,-18 37-16,18-55 15,-37 18-15,-18-18 16,0 36-16,-1-17 16,1-1-16,18 0 15,19-37 79,18 0-16,-37 0-78,0 0 188,56-19-173,-18 19 1,18-18 0,-37 18 171,37-37-171,-19 37 62,-18 0-78,37-19 15,-19 19 48,19-37 78,0 18-141,-56-18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7" name="Google Shape;61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chart" Target="../charts/char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 descr="preencoded.png"/>
          <p:cNvSpPr/>
          <p:nvPr/>
        </p:nvSpPr>
        <p:spPr>
          <a:xfrm>
            <a:off x="4846320" y="0"/>
            <a:ext cx="429768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Google Shape;18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502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1143000" y="502920"/>
            <a:ext cx="1645920" cy="347472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143000" y="50292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BEGINNER COURSE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11430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Introduction to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16002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6400"/>
              <a:buFont typeface="Calibri"/>
              <a:buNone/>
            </a:pPr>
            <a:r>
              <a:rPr lang="en-US" sz="64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25146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for Python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" y="3154680"/>
            <a:ext cx="2286000" cy="3657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57200" y="33101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Analysis  •  Cleaning  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" y="4389120"/>
            <a:ext cx="1005840" cy="310896"/>
          </a:xfrm>
          <a:prstGeom prst="rect">
            <a:avLst/>
          </a:prstGeom>
          <a:solidFill>
            <a:srgbClr val="0D9488">
              <a:alpha val="30196"/>
            </a:srgbClr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57200" y="4389120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600200" y="4389120"/>
            <a:ext cx="1005840" cy="310896"/>
          </a:xfrm>
          <a:prstGeom prst="rect">
            <a:avLst/>
          </a:prstGeom>
          <a:solidFill>
            <a:srgbClr val="7C3AED">
              <a:alpha val="30196"/>
            </a:srgbClr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1600200" y="4389120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743200" y="4389120"/>
            <a:ext cx="1005840" cy="310896"/>
          </a:xfrm>
          <a:prstGeom prst="rect">
            <a:avLst/>
          </a:prstGeom>
          <a:solidFill>
            <a:srgbClr val="F59E0B">
              <a:alpha val="30196"/>
            </a:srgbClr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2743200" y="4389120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CSV Files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886200" y="4389120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endParaRPr lang="en-US" sz="9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3150" y="-48484"/>
            <a:ext cx="4390850" cy="519198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 descr="preencoded.png"/>
          <p:cNvSpPr/>
          <p:nvPr/>
        </p:nvSpPr>
        <p:spPr>
          <a:xfrm>
            <a:off x="5120640" y="274320"/>
            <a:ext cx="37490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2" name="Google Shape;42;p2"/>
          <p:cNvSpPr/>
          <p:nvPr/>
        </p:nvSpPr>
        <p:spPr>
          <a:xfrm>
            <a:off x="457200" y="2743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What is Pandas?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868680"/>
            <a:ext cx="2194560" cy="3657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9601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most powerful Python data library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5760" y="1389888"/>
            <a:ext cx="4480560" cy="621792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" name="Google Shape;4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52" y="15179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1005840" y="14538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Tables &amp; DataFrames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05840" y="170992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Stores data like Excel spreadsheets inside 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65760" y="2112264"/>
            <a:ext cx="4480560" cy="621792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" name="Google Shape;50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352" y="22402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1005840" y="21762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005840" y="24323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Fix, rename, and transform messy data fast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65760" y="2834640"/>
            <a:ext cx="4480560" cy="621792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" name="Google Shape;54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352" y="29626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1005840" y="289864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005840" y="31546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Stats, grouping, filtering  all in one line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65760" y="3557016"/>
            <a:ext cx="4480560" cy="621792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0352" y="36850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1005840" y="362102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005840" y="387705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Prep datasets for Machine Learning models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65760" y="4279392"/>
            <a:ext cx="4480560" cy="621792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0352" y="44074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/>
          <p:nvPr/>
        </p:nvSpPr>
        <p:spPr>
          <a:xfrm>
            <a:off x="1005840" y="43434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File I/O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005840" y="45994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Read &amp; write CSV, Excel, JSON and more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20640" y="0"/>
            <a:ext cx="402336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F140AA-E958-4E1B-945F-16BBBDAF6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553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86C03-4627-4A8D-A9A1-3115EBCF0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36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86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AEFAD-0510-4E07-B270-17A610512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20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588984-495A-4F1A-B7DE-D8D899CEA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37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Setup &amp; Import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STEP 1 — Install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1298448"/>
            <a:ext cx="3931920" cy="713232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57200" y="1298448"/>
            <a:ext cx="393192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66928" y="136245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31520" y="136245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96112" y="136245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94360" y="1554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pip install pandas numpy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21762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STEP 2 — Import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2468880"/>
            <a:ext cx="3931920" cy="123444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457200" y="2468880"/>
            <a:ext cx="393192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566928" y="25328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731520" y="25328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96112" y="25328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94360" y="2724912"/>
            <a:ext cx="3657600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import pandas as pd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import numpy as np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pd → short for pandas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np → short for numpy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709160" y="1051560"/>
            <a:ext cx="4023360" cy="105156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4709160" y="1051560"/>
            <a:ext cx="54864" cy="105156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892040" y="1161288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Consolas"/>
              <a:buNone/>
            </a:pPr>
            <a:r>
              <a:rPr lang="en-US" sz="32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pd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892040" y="1600200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standard alias used by every data scientist worldwide. Keeps code short.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709160" y="2423160"/>
            <a:ext cx="4023360" cy="105156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709160" y="2423160"/>
            <a:ext cx="54864" cy="105156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892040" y="2532888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200"/>
              <a:buFont typeface="Consolas"/>
              <a:buNone/>
            </a:pPr>
            <a:r>
              <a:rPr lang="en-US" sz="32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np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892040" y="2971800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NumPy supercharges Pandas with fast array operations and random data generation.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 descr="preencoded.png"/>
          <p:cNvSpPr/>
          <p:nvPr/>
        </p:nvSpPr>
        <p:spPr>
          <a:xfrm>
            <a:off x="4709160" y="3730752"/>
            <a:ext cx="40233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6" name="Google Shape;96;p3"/>
          <p:cNvSpPr/>
          <p:nvPr/>
        </p:nvSpPr>
        <p:spPr>
          <a:xfrm>
            <a:off x="4709160" y="3730752"/>
            <a:ext cx="4023360" cy="109728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800600" y="379476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After importing, you're ready to work with data!</a:t>
            </a:r>
            <a:endParaRPr sz="1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Core Structures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" y="822960"/>
            <a:ext cx="2011680" cy="3657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65760" y="987552"/>
            <a:ext cx="4023360" cy="3858768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65760" y="987552"/>
            <a:ext cx="4023360" cy="384048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502920" y="98755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Series  —  1D Column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02920" y="1463040"/>
            <a:ext cx="3749040" cy="169164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02920" y="1463040"/>
            <a:ext cx="374904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12648" y="152704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77240" y="152704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941832" y="152704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40080" y="1719072"/>
            <a:ext cx="347472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ages = pd.Series([20, 25, 30, 35])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print(ages)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Output: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0    20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1    25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2    30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3    35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dtype: int64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02920" y="320040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Think of Series like a single spreadsheet column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40080" y="3794760"/>
            <a:ext cx="594360" cy="182880"/>
          </a:xfrm>
          <a:prstGeom prst="rect">
            <a:avLst/>
          </a:prstGeom>
          <a:solidFill>
            <a:srgbClr val="0D9488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40080" y="379476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40080" y="3977640"/>
            <a:ext cx="594360" cy="182880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40080" y="39776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40080" y="4160520"/>
            <a:ext cx="594360" cy="182880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0080" y="4160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40080" y="4343400"/>
            <a:ext cx="594360" cy="182880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40080" y="43434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40080" y="4526280"/>
            <a:ext cx="594360" cy="182880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40080" y="452628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261872" y="3794760"/>
            <a:ext cx="594360" cy="182880"/>
          </a:xfrm>
          <a:prstGeom prst="rect">
            <a:avLst/>
          </a:prstGeom>
          <a:solidFill>
            <a:srgbClr val="0D9488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1261872" y="379476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261872" y="3977640"/>
            <a:ext cx="594360" cy="182880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1261872" y="397764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261872" y="4160520"/>
            <a:ext cx="594360" cy="182880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1261872" y="416052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261872" y="4343400"/>
            <a:ext cx="594360" cy="182880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1261872" y="434340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261872" y="4526280"/>
            <a:ext cx="594360" cy="182880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261872" y="4526280"/>
            <a:ext cx="594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663440" y="987552"/>
            <a:ext cx="4114800" cy="3858768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663440" y="987552"/>
            <a:ext cx="4114800" cy="38404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800600" y="98755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DataFrame  —  2D Table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800600" y="1463040"/>
            <a:ext cx="3794760" cy="169164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800600" y="1463040"/>
            <a:ext cx="379476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910328" y="152704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5074920" y="152704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5239512" y="152704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937760" y="1719072"/>
            <a:ext cx="3520440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data = {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"Name":  ["John","Ama","Kofi"],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"Age":   [20, 22, 24],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"Score": [90, 85, 88]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 = pd.DataFrame(data)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print(df)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892040" y="3200400"/>
            <a:ext cx="320040" cy="274320"/>
          </a:xfrm>
          <a:prstGeom prst="rect">
            <a:avLst/>
          </a:prstGeom>
          <a:solidFill>
            <a:srgbClr val="7C3AED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892040" y="32004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212080" y="3200400"/>
            <a:ext cx="822960" cy="274320"/>
          </a:xfrm>
          <a:prstGeom prst="rect">
            <a:avLst/>
          </a:prstGeom>
          <a:solidFill>
            <a:srgbClr val="7C3AED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5212080" y="32004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035040" y="3200400"/>
            <a:ext cx="502920" cy="274320"/>
          </a:xfrm>
          <a:prstGeom prst="rect">
            <a:avLst/>
          </a:prstGeom>
          <a:solidFill>
            <a:srgbClr val="7C3AED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6035040" y="32004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537960" y="3200400"/>
            <a:ext cx="640080" cy="274320"/>
          </a:xfrm>
          <a:prstGeom prst="rect">
            <a:avLst/>
          </a:prstGeom>
          <a:solidFill>
            <a:srgbClr val="7C3AED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6537960" y="32004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892040" y="3493008"/>
            <a:ext cx="320040" cy="256032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892040" y="349300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212080" y="3493008"/>
            <a:ext cx="822960" cy="256032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5212080" y="34930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John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035040" y="3493008"/>
            <a:ext cx="502920" cy="256032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6035040" y="349300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537960" y="3493008"/>
            <a:ext cx="640080" cy="256032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6537960" y="349300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892040" y="3749040"/>
            <a:ext cx="320040" cy="256032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4892040" y="374904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212080" y="3749040"/>
            <a:ext cx="822960" cy="256032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5212080" y="37490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Ama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035040" y="3749040"/>
            <a:ext cx="502920" cy="256032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6035040" y="374904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537960" y="3749040"/>
            <a:ext cx="640080" cy="256032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6537960" y="374904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892040" y="4005072"/>
            <a:ext cx="320040" cy="256032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4892040" y="400507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5212080" y="4005072"/>
            <a:ext cx="822960" cy="256032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5212080" y="400507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Kofi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035040" y="4005072"/>
            <a:ext cx="502920" cy="256032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6035040" y="4005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537960" y="4005072"/>
            <a:ext cx="640080" cy="256032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6537960" y="400507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4800600" y="4325112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Multiple columns = multiple Series side by side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Creating Datasets with NumPy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57200" y="822960"/>
            <a:ext cx="2743200" cy="36576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365760" y="987552"/>
            <a:ext cx="4754880" cy="320040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365760" y="987552"/>
            <a:ext cx="475488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75488" y="1051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640080" y="1051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804672" y="10515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502920" y="1243584"/>
            <a:ext cx="4480560" cy="28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import pandas as pd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-US" sz="950" b="0" i="0" u="none" strike="noStrike" cap="none" dirty="0" err="1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numpy</a:t>
            </a: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as np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Generate 10 student records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 err="1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student_ids</a:t>
            </a: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950" b="0" i="0" u="none" strike="noStrike" cap="none" dirty="0" err="1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np.arange</a:t>
            </a: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(1, 11)          # [1..10]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ages         = </a:t>
            </a:r>
            <a:r>
              <a:rPr lang="en-US" sz="950" b="0" i="0" u="none" strike="noStrike" cap="none" dirty="0" err="1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np.random.randint</a:t>
            </a: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(18, 30, size=10)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scores       = </a:t>
            </a:r>
            <a:r>
              <a:rPr lang="en-US" sz="950" b="0" i="0" u="none" strike="noStrike" cap="none" dirty="0" err="1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np.random.randint</a:t>
            </a: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(50, 100, size=10)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students = </a:t>
            </a:r>
            <a:r>
              <a:rPr lang="en-US" sz="950" b="0" i="0" u="none" strike="noStrike" cap="none" dirty="0" err="1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pd.DataFrame</a:t>
            </a: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50" b="0" i="0" u="none" strike="noStrike" cap="none" dirty="0" err="1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Student_ID</a:t>
            </a: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": </a:t>
            </a:r>
            <a:r>
              <a:rPr lang="en-US" sz="950" b="0" i="0" u="none" strike="noStrike" cap="none" dirty="0" err="1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student_ids</a:t>
            </a: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  "Age":        ages,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  "Score":      scores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en-US" sz="950" b="0" i="0" u="none" strike="noStrike" cap="none" dirty="0" err="1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students.head</a:t>
            </a: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65760" y="4251960"/>
            <a:ext cx="4754880" cy="59436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365760" y="4251960"/>
            <a:ext cx="475488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475488" y="43159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640080" y="43159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804672" y="431596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502920" y="4507992"/>
            <a:ext cx="448056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 err="1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students.to_csv</a:t>
            </a: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("students.csv", index=False)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365760" y="4133088"/>
            <a:ext cx="1371600" cy="210312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65760" y="4133088"/>
            <a:ext cx="137160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Save to CSV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303520" y="987552"/>
            <a:ext cx="3520440" cy="123444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5303520" y="987552"/>
            <a:ext cx="3520440" cy="3657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5440680" y="1060704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np.arange(1, 11)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440680" y="1399032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→  [1, 2, 3, 4 … 10]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5440680" y="1655064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Sequence of numbers from start to stop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5303520" y="2377440"/>
            <a:ext cx="3520440" cy="123444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5303520" y="2377440"/>
            <a:ext cx="3520440" cy="36576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5440680" y="245059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np.random.randint(18, 30, size=10)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40680" y="2788920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→  [21, 27, 19 …]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440680" y="3044952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random integers between 18 and 29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303520" y="3767328"/>
            <a:ext cx="3520440" cy="123444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5303520" y="3767328"/>
            <a:ext cx="3520440" cy="3657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5440680" y="384048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np.random.seed(42)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5440680" y="417880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→  —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440680" y="443484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Fixes randomness so results are reproducible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 descr="preencoded.pn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9" name="Google Shape;21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4901"/>
            </a:srgbClr>
          </a:solidFill>
          <a:ln w="12700" cap="flat" cmpd="sng">
            <a:solidFill>
              <a:srgbClr val="0D11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Exploring Your Dataset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57200" y="795528"/>
            <a:ext cx="2560320" cy="3657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365760" y="987552"/>
            <a:ext cx="2651760" cy="146304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365760" y="987552"/>
            <a:ext cx="2651760" cy="457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488" y="1152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/>
          <p:nvPr/>
        </p:nvSpPr>
        <p:spPr>
          <a:xfrm>
            <a:off x="960120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df.head(5)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75488" y="167335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First 5 rows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3246120" y="987552"/>
            <a:ext cx="2651760" cy="146304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3246120" y="987552"/>
            <a:ext cx="2651760" cy="457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9" name="Google Shape;22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5848" y="1152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6"/>
          <p:cNvSpPr/>
          <p:nvPr/>
        </p:nvSpPr>
        <p:spPr>
          <a:xfrm>
            <a:off x="3840480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df.tail(5)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355848" y="167335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Last 5 rows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6126480" y="987552"/>
            <a:ext cx="2651760" cy="146304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6126480" y="987552"/>
            <a:ext cx="2651760" cy="457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4" name="Google Shape;234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6208" y="1152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/>
          <p:nvPr/>
        </p:nvSpPr>
        <p:spPr>
          <a:xfrm>
            <a:off x="6720840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df.info()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236208" y="167335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Column types &amp; nulls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365760" y="2633472"/>
            <a:ext cx="2651760" cy="146304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365760" y="2633472"/>
            <a:ext cx="2651760" cy="457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9" name="Google Shape;239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488" y="279806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6"/>
          <p:cNvSpPr/>
          <p:nvPr/>
        </p:nvSpPr>
        <p:spPr>
          <a:xfrm>
            <a:off x="960120" y="27889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df.describe()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75488" y="331927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Mean, min, max, std dev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3246120" y="2633472"/>
            <a:ext cx="2651760" cy="146304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3246120" y="2633472"/>
            <a:ext cx="2651760" cy="45720"/>
          </a:xfrm>
          <a:prstGeom prst="rect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" name="Google Shape;244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55848" y="279806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"/>
          <p:cNvSpPr/>
          <p:nvPr/>
        </p:nvSpPr>
        <p:spPr>
          <a:xfrm>
            <a:off x="3840480" y="27889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df.shape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3355848" y="331927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Rows × Columns tuple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6126480" y="2633472"/>
            <a:ext cx="2651760" cy="146304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6126480" y="2633472"/>
            <a:ext cx="2651760" cy="45720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49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6208" y="279806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"/>
          <p:cNvSpPr/>
          <p:nvPr/>
        </p:nvSpPr>
        <p:spPr>
          <a:xfrm>
            <a:off x="6720840" y="27889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df.columns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6236208" y="331927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List all column names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721919-F049-4F43-A5F3-A5BA5B9A5E8B}"/>
                  </a:ext>
                </a:extLst>
              </p14:cNvPr>
              <p14:cNvContentPartPr/>
              <p14:nvPr/>
            </p14:nvContentPartPr>
            <p14:xfrm>
              <a:off x="1091520" y="1279080"/>
              <a:ext cx="4641840" cy="536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721919-F049-4F43-A5F3-A5BA5B9A5E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2160" y="1269720"/>
                <a:ext cx="4660560" cy="55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Select &amp; Filter Data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57200" y="822960"/>
            <a:ext cx="2194560" cy="36576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57200" y="10058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SELECTING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57200" y="1325880"/>
            <a:ext cx="4023360" cy="269748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457200" y="1325880"/>
            <a:ext cx="402336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566928" y="13898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731520" y="13898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896112" y="13898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594360" y="1581912"/>
            <a:ext cx="3749040" cy="235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Single column → returns a Series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df["Score"]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Multiple columns → returns a DataFrame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df[["Name", "Score"]]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By row index (position)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df.iloc[0]        # first row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df.iloc[0:3]      # rows 0,1,2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By label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df.loc[0, "Score"]  # row 0, Score col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754880" y="100584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FILTERING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754880" y="1325880"/>
            <a:ext cx="4023360" cy="269748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754880" y="1325880"/>
            <a:ext cx="402336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4864608" y="13898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5029200" y="13898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5193792" y="13898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4892040" y="1581912"/>
            <a:ext cx="3749040" cy="235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Scores above 80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high = df[df["Score"] &gt; 80]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Multiple conditions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df[(df["Age"] &gt; 20) &amp; (df["Score"] &gt; 75)]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Text match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df[df["Name"] == "Ama"]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isin filter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df[df["Name"].isin(["Ama", "Kofi"])]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57200" y="41330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How filtering works visually: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457200" y="4453128"/>
            <a:ext cx="1554480" cy="502920"/>
          </a:xfrm>
          <a:prstGeom prst="rect">
            <a:avLst/>
          </a:prstGeom>
          <a:solidFill>
            <a:srgbClr val="2B0D0D"/>
          </a:solidFill>
          <a:ln w="152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457200" y="44531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John  •  72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286000" y="4453128"/>
            <a:ext cx="1554480" cy="502920"/>
          </a:xfrm>
          <a:prstGeom prst="rect">
            <a:avLst/>
          </a:prstGeom>
          <a:solidFill>
            <a:srgbClr val="0D2B1C"/>
          </a:solidFill>
          <a:ln w="15225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2286000" y="44531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Ama  •  85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4114800" y="4453128"/>
            <a:ext cx="1554480" cy="502920"/>
          </a:xfrm>
          <a:prstGeom prst="rect">
            <a:avLst/>
          </a:prstGeom>
          <a:solidFill>
            <a:srgbClr val="0D2B1C"/>
          </a:solidFill>
          <a:ln w="15225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4114800" y="44531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Kofi  •  91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5669280" y="4453128"/>
            <a:ext cx="3108960" cy="502920"/>
          </a:xfrm>
          <a:prstGeom prst="rect">
            <a:avLst/>
          </a:prstGeom>
          <a:solidFill>
            <a:srgbClr val="0D1A2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5669280" y="4453128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df[df['Score'] &gt; 80]  -&gt;  Ama, Kofi  (passed!)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7A1A08-8328-47FC-AF71-395A09511EB5}"/>
                  </a:ext>
                </a:extLst>
              </p14:cNvPr>
              <p14:cNvContentPartPr/>
              <p14:nvPr/>
            </p14:nvContentPartPr>
            <p14:xfrm>
              <a:off x="636120" y="1728000"/>
              <a:ext cx="1413720" cy="261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7A1A08-8328-47FC-AF71-395A09511E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6760" y="1718640"/>
                <a:ext cx="1432440" cy="28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Transforming Data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57200" y="822960"/>
            <a:ext cx="2194560" cy="36576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65760" y="987552"/>
            <a:ext cx="4206240" cy="201168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365760" y="987552"/>
            <a:ext cx="4206240" cy="365760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424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/>
          <p:nvPr/>
        </p:nvSpPr>
        <p:spPr>
          <a:xfrm>
            <a:off x="804672" y="102412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Add Column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75488" y="1444752"/>
            <a:ext cx="3986784" cy="141732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475488" y="1444752"/>
            <a:ext cx="3986784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585216" y="15087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749808" y="15087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914400" y="15087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612648" y="1700784"/>
            <a:ext cx="3712464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df["Passed"] = df["Score"] &gt;= 50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df["Grade"]  = df["Score"].apply(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  lambda x: "A" if x&gt;=90 else "B" if x&gt;=75 else "C")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4846320" y="987552"/>
            <a:ext cx="4206240" cy="201168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4846320" y="987552"/>
            <a:ext cx="4206240" cy="3657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1" name="Google Shape;301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7760" y="10424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8"/>
          <p:cNvSpPr/>
          <p:nvPr/>
        </p:nvSpPr>
        <p:spPr>
          <a:xfrm>
            <a:off x="5285232" y="102412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Update Value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956048" y="1444752"/>
            <a:ext cx="3986784" cy="141732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4956048" y="1444752"/>
            <a:ext cx="3986784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5065776" y="15087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5230368" y="15087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5394960" y="15087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5093208" y="1700784"/>
            <a:ext cx="3712464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By index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df.loc[0, "Score"] = 95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Across whole column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df["Score"] = df["Score"] * 1.05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65760" y="3227832"/>
            <a:ext cx="4206240" cy="201168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365760" y="3227832"/>
            <a:ext cx="4206240" cy="365760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1" name="Google Shape;311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2826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/>
          <p:nvPr/>
        </p:nvSpPr>
        <p:spPr>
          <a:xfrm>
            <a:off x="804672" y="326440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75488" y="3685032"/>
            <a:ext cx="3986784" cy="141732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475488" y="3685032"/>
            <a:ext cx="3986784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585216" y="3749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749808" y="3749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914400" y="3749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612648" y="3941064"/>
            <a:ext cx="3712464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Remove column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df.drop("Passed", axis=1, inplace=True)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Remove row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df.drop(0, axis=0, inplace=True)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846320" y="3227832"/>
            <a:ext cx="4206240" cy="201168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4846320" y="3227832"/>
            <a:ext cx="4206240" cy="36576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1" name="Google Shape;321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7760" y="32826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8"/>
          <p:cNvSpPr/>
          <p:nvPr/>
        </p:nvSpPr>
        <p:spPr>
          <a:xfrm>
            <a:off x="5285232" y="326440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Rename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956048" y="3685032"/>
            <a:ext cx="3986784" cy="141732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4956048" y="3685032"/>
            <a:ext cx="3986784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5065776" y="3749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5230368" y="3749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5394960" y="3749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5093208" y="3941064"/>
            <a:ext cx="3712464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df.rename(columns={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  "Score": "Marks",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  "Name":  "Student"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}, inplace=True)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C101B3A-E813-4C02-B0BC-06408DE62624}"/>
                  </a:ext>
                </a:extLst>
              </p14:cNvPr>
              <p14:cNvContentPartPr/>
              <p14:nvPr/>
            </p14:nvContentPartPr>
            <p14:xfrm>
              <a:off x="709920" y="1962360"/>
              <a:ext cx="5545800" cy="2712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C101B3A-E813-4C02-B0BC-06408DE626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0560" y="1953000"/>
                <a:ext cx="5564520" cy="273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" descr="preencoded.png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5" name="Google Shape;335;p9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D1117">
              <a:alpha val="70196"/>
            </a:srgbClr>
          </a:solidFill>
          <a:ln w="12700" cap="flat" cmpd="sng">
            <a:solidFill>
              <a:srgbClr val="0D11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Handling Missing Data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57200" y="822960"/>
            <a:ext cx="2377440" cy="36576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397232" y="968839"/>
            <a:ext cx="4846320" cy="1389888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438912" y="129844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438912" y="12984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1078992" y="106070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Create with Nulls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1078992" y="1399032"/>
            <a:ext cx="3931920" cy="749808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1078992" y="1399032"/>
            <a:ext cx="393192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188720" y="1463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1353312" y="1463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1517904" y="1463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1294833" y="1572768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data = {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"Name":  ["John", "Ama", None],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"Score": [90, None, 80]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 = </a:t>
            </a:r>
            <a:r>
              <a:rPr lang="en-US" sz="950" b="0" i="0" u="none" strike="noStrike" cap="none" dirty="0" err="1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pd.DataFrame</a:t>
            </a:r>
            <a:r>
              <a:rPr lang="en-US" sz="950" b="0" i="0" u="none" strike="noStrike" cap="none" dirty="0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(data)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318977" y="2697480"/>
            <a:ext cx="4846320" cy="1033272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438912" y="267004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438912" y="26700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1078992" y="243230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Detect Nulls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1078992" y="2770632"/>
            <a:ext cx="3931920" cy="749808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1078992" y="2770632"/>
            <a:ext cx="393192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1188720" y="28346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1353312" y="28346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1517904" y="28346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1216152" y="3026664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df.isnull()         # True where NaN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df.isnull().sum()   # Count per column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df.dropna()         # Remove null rows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365760" y="3749040"/>
            <a:ext cx="4846320" cy="123444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438912" y="404164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438912" y="40416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1078992" y="380390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Fill Nulls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1078992" y="4142232"/>
            <a:ext cx="3931920" cy="749808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1078992" y="4142232"/>
            <a:ext cx="393192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1188720" y="42062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1353312" y="42062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1517904" y="42062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1216152" y="4398264"/>
            <a:ext cx="3657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df.fillna(0)              # With zero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df.fillna(df.mean())      # With column mean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df["Score"].fillna(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df["Score"].median())   # Specific col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5577840" y="896112"/>
            <a:ext cx="3200400" cy="1170432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5715000" y="98755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NaN = Not a Number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5715000" y="137160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Python's placeholder for missing values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5577840" y="2267712"/>
            <a:ext cx="3200400" cy="1170432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5715000" y="235915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Real datasets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5715000" y="274320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Often have 10–30% missing values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5577840" y="3639312"/>
            <a:ext cx="3200400" cy="1170432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5715000" y="373075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Strategy matters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5715000" y="411480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Wrong fill = biased ML model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Sort, Group &amp; Aggregate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57200" y="822960"/>
            <a:ext cx="2743200" cy="36576"/>
          </a:xfrm>
          <a:prstGeom prst="rect">
            <a:avLst/>
          </a:prstGeom>
          <a:solidFill>
            <a:srgbClr val="14B8A6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365760" y="987552"/>
            <a:ext cx="4114800" cy="182880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365760" y="987552"/>
            <a:ext cx="4114800" cy="347472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6" name="Google Shape;386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10424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0"/>
          <p:cNvSpPr/>
          <p:nvPr/>
        </p:nvSpPr>
        <p:spPr>
          <a:xfrm>
            <a:off x="822960" y="10058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Sorting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502920" y="1417320"/>
            <a:ext cx="3840480" cy="128016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502920" y="1417320"/>
            <a:ext cx="384048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612648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777240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941832" y="14813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640080" y="1673352"/>
            <a:ext cx="356616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Descending by Score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df.sort_values("Score", ascending=False)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Multiple columns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df.sort_values(["Dept","Salary"])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365760" y="2971800"/>
            <a:ext cx="4114800" cy="192024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365760" y="2971800"/>
            <a:ext cx="4114800" cy="347472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6" name="Google Shape;396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301752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0"/>
          <p:cNvSpPr/>
          <p:nvPr/>
        </p:nvSpPr>
        <p:spPr>
          <a:xfrm>
            <a:off x="822960" y="299008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GroupBy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502920" y="3401568"/>
            <a:ext cx="3840480" cy="1389888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502920" y="3401568"/>
            <a:ext cx="384048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612648" y="346557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777240" y="346557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941832" y="346557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640080" y="3657600"/>
            <a:ext cx="3566160" cy="104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df.groupby("Department")["Salary"].mean()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Multiple aggregations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df.groupby("Dept").agg({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  "Salary": ["mean","max","min"],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  "Age": "count"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4" name="Google Shape;404;p10"/>
          <p:cNvGraphicFramePr/>
          <p:nvPr/>
        </p:nvGraphicFramePr>
        <p:xfrm>
          <a:off x="4663440" y="987552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05" name="Google Shape;405;p10"/>
          <p:cNvSpPr/>
          <p:nvPr/>
        </p:nvSpPr>
        <p:spPr>
          <a:xfrm>
            <a:off x="4663440" y="3822192"/>
            <a:ext cx="4114800" cy="105156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4663440" y="3822192"/>
            <a:ext cx="411480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4773168" y="388620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4937760" y="388620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5102352" y="388620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4800600" y="4078224"/>
            <a:ext cx="38404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Result: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Department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Finance    4800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IT         4200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Sales      3600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HR         3100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F4DF16-A158-4551-A8E2-9F47C629CCD4}"/>
                  </a:ext>
                </a:extLst>
              </p14:cNvPr>
              <p14:cNvContentPartPr/>
              <p14:nvPr/>
            </p14:nvContentPartPr>
            <p14:xfrm>
              <a:off x="797040" y="2089440"/>
              <a:ext cx="824040" cy="1808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F4DF16-A158-4551-A8E2-9F47C629CC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7680" y="2080080"/>
                <a:ext cx="842760" cy="182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" descr="preencoded.pn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17" name="Google Shape;417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4901"/>
            </a:srgbClr>
          </a:solidFill>
          <a:ln w="12700" cap="flat" cmpd="sng">
            <a:solidFill>
              <a:srgbClr val="0D11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Building AI-Ready Datasets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457200" y="795528"/>
            <a:ext cx="2926080" cy="36576"/>
          </a:xfrm>
          <a:prstGeom prst="rect">
            <a:avLst/>
          </a:prstGeom>
          <a:solidFill>
            <a:srgbClr val="5EEAD4"/>
          </a:solidFill>
          <a:ln w="12700" cap="flat" cmpd="sng">
            <a:solidFill>
              <a:srgbClr val="5EEA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365760" y="960120"/>
            <a:ext cx="4114800" cy="306324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365760" y="960120"/>
            <a:ext cx="411480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475488" y="10241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640080" y="10241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804672" y="10241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502920" y="1216152"/>
            <a:ext cx="3840480" cy="2715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import pandas as pd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import numpy as np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np.random.seed(42)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dataset = pd.DataFrame({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  "Age":       np.random.randint(18, 60, 100),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  "Income":    np.random.randint(2000, 10000, 100),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    "Purchased": np.random.choice([0, 1], 100)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print(dataset.head())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4709160" y="960120"/>
            <a:ext cx="4023360" cy="91440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4709160" y="960120"/>
            <a:ext cx="457200" cy="9144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4709160" y="960120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5303520" y="1033272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5303520" y="139903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 NumPy to simulate realistic numerical features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4709160" y="2011680"/>
            <a:ext cx="4023360" cy="91440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4709160" y="2011680"/>
            <a:ext cx="457200" cy="9144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4709160" y="2011680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5303520" y="2084832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5303520" y="245059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Handle nulls, remove duplicates, fix types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4709160" y="3063240"/>
            <a:ext cx="4023360" cy="91440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4709160" y="3063240"/>
            <a:ext cx="457200" cy="91440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4709160" y="3063240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5303520" y="3136392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Engineer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5303520" y="350215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 calculated columns (ratios, flags, categories)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4709160" y="4114800"/>
            <a:ext cx="4023360" cy="91440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4709160" y="4114800"/>
            <a:ext cx="457200" cy="914400"/>
          </a:xfrm>
          <a:prstGeom prst="rect">
            <a:avLst/>
          </a:prstGeom>
          <a:solidFill>
            <a:srgbClr val="5EEAD4"/>
          </a:solidFill>
          <a:ln w="12700" cap="flat" cmpd="sng">
            <a:solidFill>
              <a:srgbClr val="5EEA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4709160" y="4114800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5303520" y="4187952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Export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5303520" y="455371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Save as CSV / pass directly to sklearn or TensorFlow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4709160" y="5184648"/>
            <a:ext cx="4023360" cy="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Quick Reference Cheat Sheet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457200" y="795528"/>
            <a:ext cx="3108960" cy="36576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365760" y="987552"/>
            <a:ext cx="2560320" cy="221285"/>
          </a:xfrm>
          <a:prstGeom prst="rect">
            <a:avLst/>
          </a:prstGeom>
          <a:solidFill>
            <a:srgbClr val="0D9488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420624" y="987552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2926080" y="987552"/>
            <a:ext cx="3474720" cy="221285"/>
          </a:xfrm>
          <a:prstGeom prst="rect">
            <a:avLst/>
          </a:prstGeom>
          <a:solidFill>
            <a:srgbClr val="0D9488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2980944" y="987552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6400800" y="987552"/>
            <a:ext cx="1325880" cy="221285"/>
          </a:xfrm>
          <a:prstGeom prst="rect">
            <a:avLst/>
          </a:prstGeom>
          <a:solidFill>
            <a:srgbClr val="0D9488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6455664" y="987552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365760" y="1208837"/>
            <a:ext cx="25603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420624" y="1208837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df.head()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2926080" y="1208837"/>
            <a:ext cx="34747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2980944" y="1208837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Show first 5 rows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6400800" y="1208837"/>
            <a:ext cx="132588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6455664" y="1208837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Explore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365760" y="1430122"/>
            <a:ext cx="25603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420624" y="1430122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df.tail()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2926080" y="1430122"/>
            <a:ext cx="34747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2980944" y="1430122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Show last 5 rows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6400800" y="1430122"/>
            <a:ext cx="132588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6455664" y="1430122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Explore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365760" y="1651406"/>
            <a:ext cx="25603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420624" y="1651406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df.info()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2926080" y="1651406"/>
            <a:ext cx="34747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2980944" y="1651406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Column types &amp; null counts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6400800" y="1651406"/>
            <a:ext cx="132588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6455664" y="1651406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Explore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365760" y="1872691"/>
            <a:ext cx="25603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420624" y="1872691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df.describe()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2926080" y="1872691"/>
            <a:ext cx="34747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2980944" y="1872691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Mean, min, max, std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6400800" y="1872691"/>
            <a:ext cx="132588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6455664" y="1872691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Explore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365760" y="2093976"/>
            <a:ext cx="25603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420624" y="2093976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df.shape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2926080" y="2093976"/>
            <a:ext cx="34747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2980944" y="2093976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Rows × Columns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6400800" y="2093976"/>
            <a:ext cx="132588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6455664" y="2093976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Explore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365760" y="2315261"/>
            <a:ext cx="25603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420624" y="2315261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df['col']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2926080" y="2315261"/>
            <a:ext cx="34747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2980944" y="2315261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Select one column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6400800" y="2315261"/>
            <a:ext cx="132588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6455664" y="2315261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65760" y="2536546"/>
            <a:ext cx="25603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420624" y="2536546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df[['a','b']]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2926080" y="2536546"/>
            <a:ext cx="34747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2980944" y="2536546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Select multiple columns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6400800" y="2536546"/>
            <a:ext cx="132588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6455664" y="2536546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365760" y="2757830"/>
            <a:ext cx="25603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420624" y="2757830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df.loc[r, c]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2926080" y="2757830"/>
            <a:ext cx="34747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2980944" y="2757830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Select by label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6400800" y="2757830"/>
            <a:ext cx="132588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6455664" y="2757830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365760" y="2979115"/>
            <a:ext cx="25603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420624" y="2979115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df.iloc[r, c]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2926080" y="2979115"/>
            <a:ext cx="34747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2980944" y="2979115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Select by position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6400800" y="2979115"/>
            <a:ext cx="132588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6455664" y="2979115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365760" y="3200400"/>
            <a:ext cx="25603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420624" y="3200400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df[df['col']&gt;x]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2926080" y="3200400"/>
            <a:ext cx="34747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2980944" y="3200400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Filter rows by condition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6400800" y="3200400"/>
            <a:ext cx="132588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6455664" y="3200400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365760" y="3421685"/>
            <a:ext cx="25603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420624" y="3421685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df.sort_values('col')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2926080" y="3421685"/>
            <a:ext cx="34747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2980944" y="3421685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Sort by column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6400800" y="3421685"/>
            <a:ext cx="132588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6455664" y="3421685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365760" y="3642970"/>
            <a:ext cx="25603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420624" y="3642970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df.groupby('col').agg()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2926080" y="3642970"/>
            <a:ext cx="34747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2"/>
          <p:cNvSpPr/>
          <p:nvPr/>
        </p:nvSpPr>
        <p:spPr>
          <a:xfrm>
            <a:off x="2980944" y="3642970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Group &amp; aggregate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6400800" y="3642970"/>
            <a:ext cx="132588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6455664" y="3642970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365760" y="3864254"/>
            <a:ext cx="25603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420624" y="3864254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df.fillna(val)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2926080" y="3864254"/>
            <a:ext cx="34747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2"/>
          <p:cNvSpPr/>
          <p:nvPr/>
        </p:nvSpPr>
        <p:spPr>
          <a:xfrm>
            <a:off x="2980944" y="3864254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Fill missing values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6400800" y="3864254"/>
            <a:ext cx="132588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6455664" y="3864254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365760" y="4085539"/>
            <a:ext cx="25603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2"/>
          <p:cNvSpPr/>
          <p:nvPr/>
        </p:nvSpPr>
        <p:spPr>
          <a:xfrm>
            <a:off x="420624" y="4085539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df.dropna()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2926080" y="4085539"/>
            <a:ext cx="34747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2"/>
          <p:cNvSpPr/>
          <p:nvPr/>
        </p:nvSpPr>
        <p:spPr>
          <a:xfrm>
            <a:off x="2980944" y="4085539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Remove rows with nulls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6400800" y="4085539"/>
            <a:ext cx="132588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2"/>
          <p:cNvSpPr/>
          <p:nvPr/>
        </p:nvSpPr>
        <p:spPr>
          <a:xfrm>
            <a:off x="6455664" y="4085539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365760" y="4306824"/>
            <a:ext cx="25603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420624" y="4306824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df.drop('col', axis=1)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2926080" y="4306824"/>
            <a:ext cx="34747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2980944" y="4306824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Delete column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6400800" y="4306824"/>
            <a:ext cx="132588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2"/>
          <p:cNvSpPr/>
          <p:nvPr/>
        </p:nvSpPr>
        <p:spPr>
          <a:xfrm>
            <a:off x="6455664" y="4306824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365760" y="4528109"/>
            <a:ext cx="25603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2"/>
          <p:cNvSpPr/>
          <p:nvPr/>
        </p:nvSpPr>
        <p:spPr>
          <a:xfrm>
            <a:off x="420624" y="4528109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df.to_csv('file.csv')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2926080" y="4528109"/>
            <a:ext cx="347472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2980944" y="4528109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Save to CSV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6400800" y="4528109"/>
            <a:ext cx="1325880" cy="221285"/>
          </a:xfrm>
          <a:prstGeom prst="rect">
            <a:avLst/>
          </a:prstGeom>
          <a:solidFill>
            <a:srgbClr val="1C2A35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6455664" y="4528109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I/O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365760" y="4749394"/>
            <a:ext cx="25603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2"/>
          <p:cNvSpPr/>
          <p:nvPr/>
        </p:nvSpPr>
        <p:spPr>
          <a:xfrm>
            <a:off x="420624" y="4749394"/>
            <a:ext cx="24688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pd.read_csv('file.csv')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2"/>
          <p:cNvSpPr/>
          <p:nvPr/>
        </p:nvSpPr>
        <p:spPr>
          <a:xfrm>
            <a:off x="2926080" y="4749394"/>
            <a:ext cx="347472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2980944" y="4749394"/>
            <a:ext cx="338328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Load from CSV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6400800" y="4749394"/>
            <a:ext cx="1325880" cy="221285"/>
          </a:xfrm>
          <a:prstGeom prst="rect">
            <a:avLst/>
          </a:prstGeom>
          <a:solidFill>
            <a:srgbClr val="162430"/>
          </a:solidFill>
          <a:ln w="9525" cap="flat" cmpd="sng">
            <a:solidFill>
              <a:srgbClr val="2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2"/>
          <p:cNvSpPr/>
          <p:nvPr/>
        </p:nvSpPr>
        <p:spPr>
          <a:xfrm>
            <a:off x="6455664" y="4749394"/>
            <a:ext cx="1234440" cy="22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I/O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9B1497-9D22-45A2-9DCE-A4036FEE8890}"/>
                  </a:ext>
                </a:extLst>
              </p14:cNvPr>
              <p14:cNvContentPartPr/>
              <p14:nvPr/>
            </p14:nvContentPartPr>
            <p14:xfrm>
              <a:off x="475560" y="1325880"/>
              <a:ext cx="7152840" cy="3724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9B1497-9D22-45A2-9DCE-A4036FEE88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200" y="1316520"/>
                <a:ext cx="7171560" cy="374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3" descr="preencoded.png"/>
          <p:cNvSpPr/>
          <p:nvPr/>
        </p:nvSpPr>
        <p:spPr>
          <a:xfrm>
            <a:off x="-14886" y="-29718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68" name="Google Shape;568;p13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Your Learning Path</a:t>
            </a:r>
            <a:endParaRPr sz="30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3"/>
          <p:cNvSpPr/>
          <p:nvPr/>
        </p:nvSpPr>
        <p:spPr>
          <a:xfrm>
            <a:off x="457200" y="795528"/>
            <a:ext cx="2377440" cy="3657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365760" y="987552"/>
            <a:ext cx="2743200" cy="3858768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3"/>
          <p:cNvSpPr/>
          <p:nvPr/>
        </p:nvSpPr>
        <p:spPr>
          <a:xfrm>
            <a:off x="365760" y="987552"/>
            <a:ext cx="2743200" cy="5029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475488" y="987552"/>
            <a:ext cx="25420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3"/>
          <p:cNvSpPr/>
          <p:nvPr/>
        </p:nvSpPr>
        <p:spPr>
          <a:xfrm>
            <a:off x="502920" y="1600200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4" name="Google Shape;57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1783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3"/>
          <p:cNvSpPr/>
          <p:nvPr/>
        </p:nvSpPr>
        <p:spPr>
          <a:xfrm>
            <a:off x="914400" y="16002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Series &amp; DataFrames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3"/>
          <p:cNvSpPr/>
          <p:nvPr/>
        </p:nvSpPr>
        <p:spPr>
          <a:xfrm>
            <a:off x="502920" y="2359152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7" name="Google Shape;577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2542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13"/>
          <p:cNvSpPr/>
          <p:nvPr/>
        </p:nvSpPr>
        <p:spPr>
          <a:xfrm>
            <a:off x="914400" y="2359152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Read CSV / Excel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3"/>
          <p:cNvSpPr/>
          <p:nvPr/>
        </p:nvSpPr>
        <p:spPr>
          <a:xfrm>
            <a:off x="502920" y="3118104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0" name="Google Shape;580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3300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3"/>
          <p:cNvSpPr/>
          <p:nvPr/>
        </p:nvSpPr>
        <p:spPr>
          <a:xfrm>
            <a:off x="914400" y="3118104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head(), info(), describe()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502920" y="3877056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3" name="Google Shape;583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40599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13"/>
          <p:cNvSpPr/>
          <p:nvPr/>
        </p:nvSpPr>
        <p:spPr>
          <a:xfrm>
            <a:off x="914400" y="3877056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Selecting columns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3291840" y="987552"/>
            <a:ext cx="2743200" cy="3858768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3291840" y="987552"/>
            <a:ext cx="2743200" cy="5029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3401568" y="987552"/>
            <a:ext cx="25420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3429000" y="1600200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9" name="Google Shape;589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3008" y="1783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3"/>
          <p:cNvSpPr/>
          <p:nvPr/>
        </p:nvSpPr>
        <p:spPr>
          <a:xfrm>
            <a:off x="3840480" y="16002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Filter &amp; conditionals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/>
          <p:nvPr/>
        </p:nvSpPr>
        <p:spPr>
          <a:xfrm>
            <a:off x="3429000" y="2359152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2" name="Google Shape;59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3008" y="2542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3"/>
          <p:cNvSpPr/>
          <p:nvPr/>
        </p:nvSpPr>
        <p:spPr>
          <a:xfrm>
            <a:off x="3840480" y="2359152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Add / delete columns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3429000" y="3118104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5" name="Google Shape;595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3008" y="3300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3"/>
          <p:cNvSpPr/>
          <p:nvPr/>
        </p:nvSpPr>
        <p:spPr>
          <a:xfrm>
            <a:off x="3840480" y="3118104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Handle missing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3429000" y="3877056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8" name="Google Shape;598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3008" y="40599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13"/>
          <p:cNvSpPr/>
          <p:nvPr/>
        </p:nvSpPr>
        <p:spPr>
          <a:xfrm>
            <a:off x="3840480" y="3877056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Sort values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6217920" y="987552"/>
            <a:ext cx="2743200" cy="3858768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3"/>
          <p:cNvSpPr/>
          <p:nvPr/>
        </p:nvSpPr>
        <p:spPr>
          <a:xfrm>
            <a:off x="6217920" y="987552"/>
            <a:ext cx="2743200" cy="50292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3"/>
          <p:cNvSpPr/>
          <p:nvPr/>
        </p:nvSpPr>
        <p:spPr>
          <a:xfrm>
            <a:off x="6327648" y="987552"/>
            <a:ext cx="25420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3"/>
          <p:cNvSpPr/>
          <p:nvPr/>
        </p:nvSpPr>
        <p:spPr>
          <a:xfrm>
            <a:off x="6355080" y="1600200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4" name="Google Shape;60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9088" y="1783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13"/>
          <p:cNvSpPr/>
          <p:nvPr/>
        </p:nvSpPr>
        <p:spPr>
          <a:xfrm>
            <a:off x="6766560" y="160020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GroupBy &amp; aggregation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3"/>
          <p:cNvSpPr/>
          <p:nvPr/>
        </p:nvSpPr>
        <p:spPr>
          <a:xfrm>
            <a:off x="6355080" y="2359152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7" name="Google Shape;607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9088" y="25420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3"/>
          <p:cNvSpPr/>
          <p:nvPr/>
        </p:nvSpPr>
        <p:spPr>
          <a:xfrm>
            <a:off x="6766560" y="2359152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Apply &amp; lambda functions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3"/>
          <p:cNvSpPr/>
          <p:nvPr/>
        </p:nvSpPr>
        <p:spPr>
          <a:xfrm>
            <a:off x="6355080" y="3118104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0" name="Google Shape;610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9088" y="3300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13"/>
          <p:cNvSpPr/>
          <p:nvPr/>
        </p:nvSpPr>
        <p:spPr>
          <a:xfrm>
            <a:off x="6766560" y="3118104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Merge &amp; join datasets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3"/>
          <p:cNvSpPr/>
          <p:nvPr/>
        </p:nvSpPr>
        <p:spPr>
          <a:xfrm>
            <a:off x="6355080" y="3877056"/>
            <a:ext cx="2468880" cy="640080"/>
          </a:xfrm>
          <a:prstGeom prst="rect">
            <a:avLst/>
          </a:prstGeom>
          <a:solidFill>
            <a:srgbClr val="0D1420"/>
          </a:solidFill>
          <a:ln w="95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3" name="Google Shape;613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9088" y="40599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13"/>
          <p:cNvSpPr/>
          <p:nvPr/>
        </p:nvSpPr>
        <p:spPr>
          <a:xfrm>
            <a:off x="6766560" y="3877056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Time series basics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4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Try It Yourself!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457200" y="795528"/>
            <a:ext cx="1828800" cy="36576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4"/>
          <p:cNvSpPr/>
          <p:nvPr/>
        </p:nvSpPr>
        <p:spPr>
          <a:xfrm>
            <a:off x="365760" y="960120"/>
            <a:ext cx="5029200" cy="388620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365760" y="960120"/>
            <a:ext cx="5029200" cy="201168"/>
          </a:xfrm>
          <a:prstGeom prst="rect">
            <a:avLst/>
          </a:prstGeom>
          <a:solidFill>
            <a:srgbClr val="1C2A35"/>
          </a:solidFill>
          <a:ln w="12700" cap="flat" cmpd="sng">
            <a:solidFill>
              <a:srgbClr val="1C2A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4"/>
          <p:cNvSpPr/>
          <p:nvPr/>
        </p:nvSpPr>
        <p:spPr>
          <a:xfrm>
            <a:off x="475488" y="10241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4"/>
          <p:cNvSpPr/>
          <p:nvPr/>
        </p:nvSpPr>
        <p:spPr>
          <a:xfrm>
            <a:off x="640080" y="10241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804672" y="102412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4"/>
          <p:cNvSpPr/>
          <p:nvPr/>
        </p:nvSpPr>
        <p:spPr>
          <a:xfrm>
            <a:off x="502920" y="1216152"/>
            <a:ext cx="475488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import pandas as pd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import numpy as np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names  = ["Ama", "Kojo", "Yaw", "Akosua"]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scores = np.random.randint(50, 100, size=4)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df = pd.DataFrame({"Name": names, "Score": scores})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Explore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print(df)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print(df.describe())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Try these challenges: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1. Add a "Passed" column (True if Score &gt;= 60)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2. Filter only students who passed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3. Sort by Score descending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8C8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3E8C8"/>
                </a:solidFill>
                <a:latin typeface="Consolas"/>
                <a:ea typeface="Consolas"/>
                <a:cs typeface="Consolas"/>
                <a:sym typeface="Consolas"/>
              </a:rPr>
              <a:t># 4. Calculate mean score with df["Score"].mean()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5577840" y="960120"/>
            <a:ext cx="3200400" cy="91440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4"/>
          <p:cNvSpPr/>
          <p:nvPr/>
        </p:nvSpPr>
        <p:spPr>
          <a:xfrm>
            <a:off x="5650992" y="117957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5650992" y="11795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4"/>
          <p:cNvSpPr/>
          <p:nvPr/>
        </p:nvSpPr>
        <p:spPr>
          <a:xfrm>
            <a:off x="6236208" y="1014984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Add a Passed column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6236208" y="1362456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df["Passed"] = df["Score"] &gt;= 60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4"/>
          <p:cNvSpPr/>
          <p:nvPr/>
        </p:nvSpPr>
        <p:spPr>
          <a:xfrm>
            <a:off x="5577840" y="2002536"/>
            <a:ext cx="3200400" cy="91440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4"/>
          <p:cNvSpPr/>
          <p:nvPr/>
        </p:nvSpPr>
        <p:spPr>
          <a:xfrm>
            <a:off x="5650992" y="222199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14"/>
          <p:cNvSpPr/>
          <p:nvPr/>
        </p:nvSpPr>
        <p:spPr>
          <a:xfrm>
            <a:off x="5650992" y="22219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6236208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Filter passed students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6236208" y="2404872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df[df["Passed"] == True]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4"/>
          <p:cNvSpPr/>
          <p:nvPr/>
        </p:nvSpPr>
        <p:spPr>
          <a:xfrm>
            <a:off x="5577840" y="3044952"/>
            <a:ext cx="3200400" cy="91440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4"/>
          <p:cNvSpPr/>
          <p:nvPr/>
        </p:nvSpPr>
        <p:spPr>
          <a:xfrm>
            <a:off x="5650992" y="32644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4"/>
          <p:cNvSpPr/>
          <p:nvPr/>
        </p:nvSpPr>
        <p:spPr>
          <a:xfrm>
            <a:off x="5650992" y="3264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4"/>
          <p:cNvSpPr/>
          <p:nvPr/>
        </p:nvSpPr>
        <p:spPr>
          <a:xfrm>
            <a:off x="6236208" y="3099816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Sort descending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4"/>
          <p:cNvSpPr/>
          <p:nvPr/>
        </p:nvSpPr>
        <p:spPr>
          <a:xfrm>
            <a:off x="6236208" y="3447288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df.sort_values("Score", ascending=False)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4"/>
          <p:cNvSpPr/>
          <p:nvPr/>
        </p:nvSpPr>
        <p:spPr>
          <a:xfrm>
            <a:off x="5577840" y="4087368"/>
            <a:ext cx="3200400" cy="914400"/>
          </a:xfrm>
          <a:prstGeom prst="rect">
            <a:avLst/>
          </a:prstGeom>
          <a:solidFill>
            <a:srgbClr val="1E2A35"/>
          </a:solidFill>
          <a:ln w="9525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4"/>
          <p:cNvSpPr/>
          <p:nvPr/>
        </p:nvSpPr>
        <p:spPr>
          <a:xfrm>
            <a:off x="5650992" y="430682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4"/>
          <p:cNvSpPr/>
          <p:nvPr/>
        </p:nvSpPr>
        <p:spPr>
          <a:xfrm>
            <a:off x="5650992" y="43068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4"/>
          <p:cNvSpPr/>
          <p:nvPr/>
        </p:nvSpPr>
        <p:spPr>
          <a:xfrm>
            <a:off x="6236208" y="414223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Calculate mean score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4"/>
          <p:cNvSpPr/>
          <p:nvPr/>
        </p:nvSpPr>
        <p:spPr>
          <a:xfrm>
            <a:off x="6236208" y="4489704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df["Score"].mean()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5" descr="preencoded.pn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4" name="Google Shape;654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196"/>
            </a:srgbClr>
          </a:solidFill>
          <a:ln w="12700" cap="flat" cmpd="sng">
            <a:solidFill>
              <a:srgbClr val="0D11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15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5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DF9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0FDF9"/>
                </a:solidFill>
                <a:latin typeface="Calibri"/>
                <a:ea typeface="Calibri"/>
                <a:cs typeface="Calibri"/>
                <a:sym typeface="Calibri"/>
              </a:rPr>
              <a:t>You're Ready to Start!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5"/>
          <p:cNvSpPr/>
          <p:nvPr/>
        </p:nvSpPr>
        <p:spPr>
          <a:xfrm>
            <a:off x="960120" y="192024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 b="0" i="0" u="none" strike="noStrike" cap="none" dirty="0">
                <a:solidFill>
                  <a:srgbClr val="FF0000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rPr>
              <a:t>Pandas is the #1 tool every </a:t>
            </a:r>
            <a:r>
              <a:rPr lang="en-US" sz="1500" dirty="0">
                <a:solidFill>
                  <a:srgbClr val="FF0000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rPr>
              <a:t>Data Analyst / Scientist</a:t>
            </a:r>
            <a:r>
              <a:rPr lang="en-US" sz="1500" b="0" i="0" u="none" strike="noStrike" cap="none" dirty="0">
                <a:solidFill>
                  <a:srgbClr val="FF0000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rPr>
              <a:t> uses daily.</a:t>
            </a:r>
            <a:endParaRPr sz="1500" b="0" i="0" u="none" strike="noStrike" cap="none" dirty="0">
              <a:solidFill>
                <a:srgbClr val="FF0000"/>
              </a:solidFill>
              <a:highlight>
                <a:srgbClr val="C0C0C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 b="0" i="0" u="none" strike="noStrike" cap="none" dirty="0">
                <a:solidFill>
                  <a:srgbClr val="FF0000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rPr>
              <a:t>Master it and unlock the world of data science.</a:t>
            </a:r>
            <a:endParaRPr sz="1500" b="0" i="0" u="none" strike="noStrike" cap="none" dirty="0">
              <a:solidFill>
                <a:srgbClr val="FF0000"/>
              </a:solidFill>
              <a:highlight>
                <a:srgbClr val="C0C0C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2743200" y="2834640"/>
            <a:ext cx="3657600" cy="54864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502920" y="3063240"/>
            <a:ext cx="1920240" cy="402336"/>
          </a:xfrm>
          <a:prstGeom prst="rect">
            <a:avLst/>
          </a:prstGeom>
          <a:solidFill>
            <a:srgbClr val="0D9488">
              <a:alpha val="25098"/>
            </a:srgbClr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5"/>
          <p:cNvSpPr/>
          <p:nvPr/>
        </p:nvSpPr>
        <p:spPr>
          <a:xfrm>
            <a:off x="502920" y="3063240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#pandas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5"/>
          <p:cNvSpPr/>
          <p:nvPr/>
        </p:nvSpPr>
        <p:spPr>
          <a:xfrm>
            <a:off x="2560320" y="3063240"/>
            <a:ext cx="1920240" cy="402336"/>
          </a:xfrm>
          <a:prstGeom prst="rect">
            <a:avLst/>
          </a:prstGeom>
          <a:solidFill>
            <a:srgbClr val="0D9488">
              <a:alpha val="25098"/>
            </a:srgbClr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15"/>
          <p:cNvSpPr/>
          <p:nvPr/>
        </p:nvSpPr>
        <p:spPr>
          <a:xfrm>
            <a:off x="2560320" y="3063240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#numpy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5"/>
          <p:cNvSpPr/>
          <p:nvPr/>
        </p:nvSpPr>
        <p:spPr>
          <a:xfrm>
            <a:off x="4617720" y="3063240"/>
            <a:ext cx="1920240" cy="402336"/>
          </a:xfrm>
          <a:prstGeom prst="rect">
            <a:avLst/>
          </a:prstGeom>
          <a:solidFill>
            <a:srgbClr val="0D9488">
              <a:alpha val="25098"/>
            </a:srgbClr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15"/>
          <p:cNvSpPr/>
          <p:nvPr/>
        </p:nvSpPr>
        <p:spPr>
          <a:xfrm>
            <a:off x="4617720" y="3063240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#DataFrame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5"/>
          <p:cNvSpPr/>
          <p:nvPr/>
        </p:nvSpPr>
        <p:spPr>
          <a:xfrm>
            <a:off x="6675120" y="3063240"/>
            <a:ext cx="1920240" cy="402336"/>
          </a:xfrm>
          <a:prstGeom prst="rect">
            <a:avLst/>
          </a:prstGeom>
          <a:solidFill>
            <a:srgbClr val="0D9488">
              <a:alpha val="25098"/>
            </a:srgbClr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5"/>
          <p:cNvSpPr/>
          <p:nvPr/>
        </p:nvSpPr>
        <p:spPr>
          <a:xfrm>
            <a:off x="6675120" y="3063240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#data cleaning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5"/>
          <p:cNvSpPr/>
          <p:nvPr/>
        </p:nvSpPr>
        <p:spPr>
          <a:xfrm>
            <a:off x="502920" y="3593592"/>
            <a:ext cx="1920240" cy="402336"/>
          </a:xfrm>
          <a:prstGeom prst="rect">
            <a:avLst/>
          </a:prstGeom>
          <a:solidFill>
            <a:srgbClr val="0D9488">
              <a:alpha val="25098"/>
            </a:srgbClr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5"/>
          <p:cNvSpPr/>
          <p:nvPr/>
        </p:nvSpPr>
        <p:spPr>
          <a:xfrm>
            <a:off x="502920" y="3593592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#AI engineering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5"/>
          <p:cNvSpPr/>
          <p:nvPr/>
        </p:nvSpPr>
        <p:spPr>
          <a:xfrm>
            <a:off x="2560320" y="3593592"/>
            <a:ext cx="1920240" cy="402336"/>
          </a:xfrm>
          <a:prstGeom prst="rect">
            <a:avLst/>
          </a:prstGeom>
          <a:solidFill>
            <a:srgbClr val="0D9488">
              <a:alpha val="25098"/>
            </a:srgbClr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5"/>
          <p:cNvSpPr/>
          <p:nvPr/>
        </p:nvSpPr>
        <p:spPr>
          <a:xfrm>
            <a:off x="2560320" y="3593592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#groupby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4617720" y="3593592"/>
            <a:ext cx="1920240" cy="402336"/>
          </a:xfrm>
          <a:prstGeom prst="rect">
            <a:avLst/>
          </a:prstGeom>
          <a:solidFill>
            <a:srgbClr val="0D9488">
              <a:alpha val="25098"/>
            </a:srgbClr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5"/>
          <p:cNvSpPr/>
          <p:nvPr/>
        </p:nvSpPr>
        <p:spPr>
          <a:xfrm>
            <a:off x="4617720" y="3593592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#CSV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5"/>
          <p:cNvSpPr/>
          <p:nvPr/>
        </p:nvSpPr>
        <p:spPr>
          <a:xfrm>
            <a:off x="6675120" y="3593592"/>
            <a:ext cx="1920240" cy="402336"/>
          </a:xfrm>
          <a:prstGeom prst="rect">
            <a:avLst/>
          </a:prstGeom>
          <a:solidFill>
            <a:srgbClr val="0D9488">
              <a:alpha val="25098"/>
            </a:srgbClr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6675120" y="3593592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#Machine Learning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914400" y="466344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Keep building. Keep learning. 🚀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1686</Words>
  <Application>Microsoft Office PowerPoint</Application>
  <PresentationFormat>On-screen Show (16:9)</PresentationFormat>
  <Paragraphs>370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Eric Kella Mwinwule</cp:lastModifiedBy>
  <cp:revision>7</cp:revision>
  <dcterms:created xsi:type="dcterms:W3CDTF">2026-05-21T03:58:16Z</dcterms:created>
  <dcterms:modified xsi:type="dcterms:W3CDTF">2026-05-22T09:56:37Z</dcterms:modified>
</cp:coreProperties>
</file>