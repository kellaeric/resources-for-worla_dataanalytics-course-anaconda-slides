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E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109728"/>
          </a:xfrm>
          <a:prstGeom prst="rect">
            <a:avLst/>
          </a:prstGeom>
          <a:solidFill>
            <a:srgbClr val="32E0C4"/>
          </a:solidFill>
          <a:ln w="12700">
            <a:solidFill>
              <a:srgbClr val="32E0C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75120" y="914400"/>
            <a:ext cx="2011680" cy="2011680"/>
          </a:xfrm>
          <a:prstGeom prst="ellipse">
            <a:avLst/>
          </a:prstGeom>
          <a:solidFill>
            <a:srgbClr val="0D7377">
              <a:alpha val="70000"/>
            </a:srgbClr>
          </a:solidFill>
          <a:ln w="25400">
            <a:solidFill>
              <a:srgbClr val="32E0C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1325880"/>
            <a:ext cx="1188720" cy="1188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9144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32E0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ANALYSIS TOOLS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11480" y="141732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Anaconda &amp; Jupyter Notebook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411480" y="26060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32E0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Complete Guide for New Students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11480" y="3291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0C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Installation  |  Configuration  |  Jupyter Interface  |  Cloud Platforms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11480" y="4617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A9B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LECTURE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690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502920" cy="10515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61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09728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E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Anaconda?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50876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&amp; key benefits for data analysis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005840"/>
            <a:ext cx="40690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005840"/>
            <a:ext cx="502920" cy="10515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261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94960" y="109728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E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Installation Guide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94960" y="150876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Windows, macOS &amp; Linux step-by-step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40690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240280"/>
            <a:ext cx="502920" cy="10515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496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" y="23317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E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Configuring Anaconda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274320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Updates, environments &amp; Navigator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2240280"/>
            <a:ext cx="40690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240280"/>
            <a:ext cx="502920" cy="10515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496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94960" y="23317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E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Jupyter Notebook UI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94960" y="274320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Interface, cells, shortcuts &amp; saving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474720"/>
            <a:ext cx="40690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474720"/>
            <a:ext cx="502920" cy="10515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730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60120" y="35661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E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JupyterLab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60120" y="397764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modern next-generation interface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00600" y="3474720"/>
            <a:ext cx="40690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3474720"/>
            <a:ext cx="502920" cy="10515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3730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94960" y="35661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E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 Platforms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94960" y="397764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8+ platforms for online Jupyter access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1 — What is Anaconda?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06240" cy="384048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91640" y="1143000"/>
            <a:ext cx="1005840" cy="1005840"/>
          </a:xfrm>
          <a:prstGeom prst="ellipse">
            <a:avLst/>
          </a:prstGeom>
          <a:solidFill>
            <a:srgbClr val="0D7377"/>
          </a:solidFill>
          <a:ln w="25400">
            <a:solidFill>
              <a:srgbClr val="32E0C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4520" y="1298448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22860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Anaconda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11480" y="283464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free, open-source Python &amp; R distribution built for data science, machine learning, and scientific computing.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754880" y="960120"/>
            <a:ext cx="40690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64608" y="1088136"/>
            <a:ext cx="548640" cy="54864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4336" y="1133856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32120" y="10332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E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250+ Pre-installed Packages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532120" y="13807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NumPy, Pandas, Matplotlib &amp; more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754880" y="1892808"/>
            <a:ext cx="40690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864608" y="2020824"/>
            <a:ext cx="548640" cy="54864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4336" y="2066544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532120" y="1965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E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Conda Package Manager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5532120" y="23134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install, update, manage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754880" y="2825496"/>
            <a:ext cx="40690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64608" y="2953512"/>
            <a:ext cx="548640" cy="54864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4336" y="2999232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32120" y="28986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E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Virtual Environments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5532120" y="32461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project dependencies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754880" y="3758184"/>
            <a:ext cx="40690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864608" y="3886200"/>
            <a:ext cx="548640" cy="54864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4336" y="3931920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532120" y="383133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E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Cross-Platform Support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5532120" y="41788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Windows, macOS &amp; Linux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2 — Installation Guide (All Platforms)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19659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1965960" cy="10058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8755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2E0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3716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Download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84048" y="2148840"/>
            <a:ext cx="176479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anaconda.com/download</a:t>
            </a:r>
            <a:endParaRPr lang="en-US" sz="11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your OS (Win / Mac / Linux)</a:t>
            </a:r>
            <a:endParaRPr lang="en-US" sz="11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Download (~800 MB)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450592" y="960120"/>
            <a:ext cx="19659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50592" y="960120"/>
            <a:ext cx="1965960" cy="100584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98755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2E0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50592" y="13716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 Installer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560320" y="2148840"/>
            <a:ext cx="176479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Double-click the installer</a:t>
            </a:r>
            <a:endParaRPr lang="en-US" sz="11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the License Agreement</a:t>
            </a:r>
            <a:endParaRPr lang="en-US" sz="11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Just Me option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26864" y="960120"/>
            <a:ext cx="19659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26864" y="960120"/>
            <a:ext cx="1965960" cy="10058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6864" y="98755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2E0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26864" y="13716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Configure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36592" y="2148840"/>
            <a:ext cx="176479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default install directory</a:t>
            </a:r>
            <a:endParaRPr lang="en-US" sz="11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as default Python</a:t>
            </a:r>
            <a:endParaRPr lang="en-US" sz="11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Install &amp; wait 10-15 min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03136" y="960120"/>
            <a:ext cx="19659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03136" y="960120"/>
            <a:ext cx="1965960" cy="100584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03136" y="98755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2E0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03136" y="13716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12864" y="2148840"/>
            <a:ext cx="176479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Anaconda Prompt or Terminal</a:t>
            </a:r>
            <a:endParaRPr lang="en-US" sz="11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 conda --version</a:t>
            </a:r>
            <a:endParaRPr lang="en-US" sz="11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display version number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74320" y="468172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Always download from the official Anaconda website. For Linux, run: bash Anaconda3-*.sh in Terminal.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3 — Configuring Anaconda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393192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058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2E0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Commands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11480" y="150876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conda: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1728216"/>
            <a:ext cx="3749040" cy="237744"/>
          </a:xfrm>
          <a:prstGeom prst="rect">
            <a:avLst/>
          </a:prstGeom>
          <a:solidFill>
            <a:srgbClr val="0A1E30"/>
          </a:solidFill>
          <a:ln w="12700">
            <a:solidFill>
              <a:srgbClr val="0A1E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72821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conda update conda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03911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all packages: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2258568"/>
            <a:ext cx="3749040" cy="237744"/>
          </a:xfrm>
          <a:prstGeom prst="rect">
            <a:avLst/>
          </a:prstGeom>
          <a:solidFill>
            <a:srgbClr val="0A1E30"/>
          </a:solidFill>
          <a:ln w="12700">
            <a:solidFill>
              <a:srgbClr val="0A1E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25856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conda update anaconda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56946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environment: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2788920"/>
            <a:ext cx="3749040" cy="237744"/>
          </a:xfrm>
          <a:prstGeom prst="rect">
            <a:avLst/>
          </a:prstGeom>
          <a:solidFill>
            <a:srgbClr val="0A1E30"/>
          </a:solidFill>
          <a:ln w="12700">
            <a:solidFill>
              <a:srgbClr val="0A1E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7889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conda create --name myenv python=3.10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09981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Activate: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3319272"/>
            <a:ext cx="3749040" cy="237744"/>
          </a:xfrm>
          <a:prstGeom prst="rect">
            <a:avLst/>
          </a:prstGeom>
          <a:solidFill>
            <a:srgbClr val="0A1E30"/>
          </a:solidFill>
          <a:ln w="12700">
            <a:solidFill>
              <a:srgbClr val="0A1E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31927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conda activate myenv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363016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packages: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3849624"/>
            <a:ext cx="3749040" cy="237744"/>
          </a:xfrm>
          <a:prstGeom prst="rect">
            <a:avLst/>
          </a:prstGeom>
          <a:solidFill>
            <a:srgbClr val="0A1E30"/>
          </a:solidFill>
          <a:ln w="12700">
            <a:solidFill>
              <a:srgbClr val="0A1E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84962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conda install numpy pandas matplotlib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" y="416052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Deactivate: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" y="4379976"/>
            <a:ext cx="3749040" cy="237744"/>
          </a:xfrm>
          <a:prstGeom prst="rect">
            <a:avLst/>
          </a:prstGeom>
          <a:solidFill>
            <a:srgbClr val="0A1E30"/>
          </a:solidFill>
          <a:ln w="12700">
            <a:solidFill>
              <a:srgbClr val="0A1E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37997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conda deactivate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914400"/>
            <a:ext cx="41605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54880" y="10058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E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Virtual Environments?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800600" y="1572768"/>
            <a:ext cx="256032" cy="25603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153619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different projects completely separate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00600" y="2167128"/>
            <a:ext cx="256032" cy="25603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66360" y="213055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package version conflicts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00600" y="2761488"/>
            <a:ext cx="256032" cy="25603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66360" y="272491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Easily share your setup with teammates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00600" y="3355848"/>
            <a:ext cx="256032" cy="25603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66360" y="331927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Safely test packages without breaking other work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800600" y="3950208"/>
            <a:ext cx="256032" cy="25603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66360" y="391363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best practice for data teams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663440" y="3886200"/>
            <a:ext cx="4160520" cy="960120"/>
          </a:xfrm>
          <a:prstGeom prst="rect">
            <a:avLst/>
          </a:prstGeom>
          <a:solidFill>
            <a:srgbClr val="EAF4F4"/>
          </a:solidFill>
          <a:ln w="12700">
            <a:solidFill>
              <a:srgbClr val="D0E8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3931920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Anaconda Navigator from Start Menu (Windows), Launchpad (macOS), or type anaconda-navigator in Terminal.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4 — Jupyter Notebook Interface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51206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5120640" cy="41148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3268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  Edit   View   Insert   Cell   Kernel   Help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1325880"/>
            <a:ext cx="5120640" cy="347472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62456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 Stop  Restart  Add Cell  |  Code  |  Python 3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0040" y="1737360"/>
            <a:ext cx="5029200" cy="621792"/>
          </a:xfrm>
          <a:prstGeom prst="rect">
            <a:avLst/>
          </a:prstGeom>
          <a:solidFill>
            <a:srgbClr val="F9F9FF"/>
          </a:solidFill>
          <a:ln w="12700">
            <a:solidFill>
              <a:srgbClr val="BBBB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175564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66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[1]: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05840" y="17373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6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6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pd.read_csv('data.csv')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2423160"/>
            <a:ext cx="5029200" cy="457200"/>
          </a:xfrm>
          <a:prstGeom prst="rect">
            <a:avLst/>
          </a:prstGeom>
          <a:solidFill>
            <a:srgbClr val="FFFFF0"/>
          </a:solidFill>
          <a:ln w="12700">
            <a:solidFill>
              <a:srgbClr val="DDDD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" y="245059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]: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05840" y="245059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A5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My Analysis  (Markdown Cell — formatted text)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2944368"/>
            <a:ext cx="5029200" cy="749808"/>
          </a:xfrm>
          <a:prstGeom prst="rect">
            <a:avLst/>
          </a:prstGeom>
          <a:solidFill>
            <a:srgbClr val="F9F9FF"/>
          </a:solidFill>
          <a:ln w="12700">
            <a:solidFill>
              <a:srgbClr val="BBBB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" y="29718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66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[2]: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05840" y="2944368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6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matplotlib.pyplot as plt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6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plt.plot(df['value'])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6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plt.show()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3749040"/>
            <a:ext cx="5029200" cy="82296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38404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[Chart output rendered here]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394960" y="1106424"/>
            <a:ext cx="320040" cy="0"/>
          </a:xfrm>
          <a:prstGeom prst="line">
            <a:avLst/>
          </a:prstGeom>
          <a:noFill/>
          <a:ln w="12700">
            <a:solidFill>
              <a:srgbClr val="0D73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0" y="10332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Bar — File, Edit, View, Kernel, Help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394960" y="1508760"/>
            <a:ext cx="320040" cy="0"/>
          </a:xfrm>
          <a:prstGeom prst="line">
            <a:avLst/>
          </a:prstGeom>
          <a:noFill/>
          <a:ln w="12700">
            <a:solidFill>
              <a:srgbClr val="1B2E4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0" y="14356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Toolbar — Save, Run, Add Cell, Stop, Restart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394960" y="1993392"/>
            <a:ext cx="320040" cy="0"/>
          </a:xfrm>
          <a:prstGeom prst="line">
            <a:avLst/>
          </a:prstGeom>
          <a:noFill/>
          <a:ln w="12700">
            <a:solidFill>
              <a:srgbClr val="0066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0720" y="1920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Cell — Write &amp; execute Python code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394960" y="2587752"/>
            <a:ext cx="320040" cy="0"/>
          </a:xfrm>
          <a:prstGeom prst="line">
            <a:avLst/>
          </a:prstGeom>
          <a:noFill/>
          <a:ln w="12700">
            <a:solidFill>
              <a:srgbClr val="AA55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0720" y="2514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5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Cell — Formatted text &amp; notes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394960" y="3319272"/>
            <a:ext cx="320040" cy="0"/>
          </a:xfrm>
          <a:prstGeom prst="line">
            <a:avLst/>
          </a:prstGeom>
          <a:noFill/>
          <a:ln w="12700">
            <a:solidFill>
              <a:srgbClr val="0066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0" y="32461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Cell — More analysis &amp; visualization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394960" y="4050792"/>
            <a:ext cx="32004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60720" y="3977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Area — Results appear below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5 — Cell Types &amp; Keyboard Shortcuts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3657600"/>
          </a:xfrm>
          <a:prstGeom prst="rect">
            <a:avLst/>
          </a:prstGeom>
          <a:solidFill>
            <a:srgbClr val="EEF6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2743200" cy="502920"/>
          </a:xfrm>
          <a:prstGeom prst="rect">
            <a:avLst/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 Cell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4048" y="1508760"/>
            <a:ext cx="2523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and execute Python code. Output appears directly below the cell after running.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84048" y="2395728"/>
            <a:ext cx="2523744" cy="9144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24231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pd.read_csv('data.csv')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df.head()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84048" y="3401568"/>
            <a:ext cx="2523744" cy="109728"/>
          </a:xfrm>
          <a:prstGeom prst="rect">
            <a:avLst/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54787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00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Press Shift+Enter to run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82112" y="914400"/>
            <a:ext cx="2743200" cy="3657600"/>
          </a:xfrm>
          <a:prstGeom prst="rect">
            <a:avLst/>
          </a:prstGeom>
          <a:solidFill>
            <a:srgbClr val="FFFAE8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82112" y="914400"/>
            <a:ext cx="2743200" cy="502920"/>
          </a:xfrm>
          <a:prstGeom prst="rect">
            <a:avLst/>
          </a:prstGeom>
          <a:solidFill>
            <a:srgbClr val="885500"/>
          </a:solidFill>
          <a:ln w="12700">
            <a:solidFill>
              <a:srgbClr val="8855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82112" y="914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Markdown Cell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91840" y="1508760"/>
            <a:ext cx="2523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formatted text, headings, bullet points, and mathematical equations.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91840" y="2395728"/>
            <a:ext cx="2523744" cy="9144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46704" y="24231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My Analysis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**Bold text**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Bullet point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91840" y="3401568"/>
            <a:ext cx="2523744" cy="109728"/>
          </a:xfrm>
          <a:prstGeom prst="rect">
            <a:avLst/>
          </a:prstGeom>
          <a:solidFill>
            <a:srgbClr val="885500"/>
          </a:solidFill>
          <a:ln w="12700">
            <a:solidFill>
              <a:srgbClr val="8855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9272" y="354787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885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Press M in Command Mode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89904" y="914400"/>
            <a:ext cx="2743200" cy="36576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89904" y="914400"/>
            <a:ext cx="2743200" cy="50292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89904" y="914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Raw Cell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199632" y="1508760"/>
            <a:ext cx="2523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text not executed or rendered. Used for document conversion tools like nbconvert.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99632" y="2395728"/>
            <a:ext cx="2523744" cy="9144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54496" y="24231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(No formatting applied)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Just plain text output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99632" y="3401568"/>
            <a:ext cx="2523744" cy="109728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27064" y="354787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Rarely needed by beginners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4645152"/>
            <a:ext cx="8595360" cy="347472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663440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2E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Shortcuts:  Shift+Enter = Run  |  A = Insert Above  |  B = Below  |  D+D = Delete  |  M = Markdown  |  Y = Code  |  Esc = Command Mode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6 — JupyterLab vs. Jupyter Notebook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0" y="914400"/>
            <a:ext cx="2651760" cy="6400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0" y="9144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Jupyter Notebook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0" y="914400"/>
            <a:ext cx="2926080" cy="64008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0" y="9144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2E0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JupyterLab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645920"/>
            <a:ext cx="2834640" cy="475488"/>
          </a:xfrm>
          <a:prstGeom prst="rect">
            <a:avLst/>
          </a:prstGeom>
          <a:solidFill>
            <a:srgbClr val="F5FFF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70078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E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Interface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645920"/>
            <a:ext cx="2651760" cy="475488"/>
          </a:xfrm>
          <a:prstGeom prst="rect">
            <a:avLst/>
          </a:prstGeom>
          <a:solidFill>
            <a:srgbClr val="F5FFF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70078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notebook per tab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0" y="1645920"/>
            <a:ext cx="2926080" cy="475488"/>
          </a:xfrm>
          <a:prstGeom prst="rect">
            <a:avLst/>
          </a:prstGeom>
          <a:solidFill>
            <a:srgbClr val="F5FFF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170078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tabs &amp; panels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176272"/>
            <a:ext cx="2834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311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E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File Browser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0" y="2176272"/>
            <a:ext cx="2651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223113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home dashboard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0" y="2176272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223113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left-side panel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2706624"/>
            <a:ext cx="2834640" cy="475488"/>
          </a:xfrm>
          <a:prstGeom prst="rect">
            <a:avLst/>
          </a:prstGeom>
          <a:solidFill>
            <a:srgbClr val="F5FFF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76148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E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Terminal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0" y="2706624"/>
            <a:ext cx="2651760" cy="475488"/>
          </a:xfrm>
          <a:prstGeom prst="rect">
            <a:avLst/>
          </a:prstGeom>
          <a:solidFill>
            <a:srgbClr val="F5FFF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27614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available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43600" y="2706624"/>
            <a:ext cx="2926080" cy="475488"/>
          </a:xfrm>
          <a:prstGeom prst="rect">
            <a:avLst/>
          </a:prstGeom>
          <a:solidFill>
            <a:srgbClr val="F5FFF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5040" y="2761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terminal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3236976"/>
            <a:ext cx="2834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291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E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Text Editor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00400" y="3236976"/>
            <a:ext cx="2651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91840" y="32918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available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943600" y="3236976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3291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code &amp; text editor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3767328"/>
            <a:ext cx="2834640" cy="475488"/>
          </a:xfrm>
          <a:prstGeom prst="rect">
            <a:avLst/>
          </a:prstGeom>
          <a:solidFill>
            <a:srgbClr val="F5FFF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82219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E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For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200400" y="3767328"/>
            <a:ext cx="2651760" cy="475488"/>
          </a:xfrm>
          <a:prstGeom prst="rect">
            <a:avLst/>
          </a:prstGeom>
          <a:solidFill>
            <a:srgbClr val="F5FFF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91840" y="382219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Beginners &amp; simple tasks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943600" y="3767328"/>
            <a:ext cx="2926080" cy="475488"/>
          </a:xfrm>
          <a:prstGeom prst="rect">
            <a:avLst/>
          </a:prstGeom>
          <a:solidFill>
            <a:srgbClr val="F5FFF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35040" y="38221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users &amp; big projects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74320" y="4297680"/>
            <a:ext cx="2834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35254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E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Launch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200400" y="4297680"/>
            <a:ext cx="2651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91840" y="435254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943600" y="4297680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35040" y="435254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lab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74320" y="4709160"/>
            <a:ext cx="8595360" cy="256032"/>
          </a:xfrm>
          <a:prstGeom prst="rect">
            <a:avLst/>
          </a:prstGeom>
          <a:solidFill>
            <a:srgbClr val="EAF4F4"/>
          </a:solidFill>
          <a:ln w="12700">
            <a:solidFill>
              <a:srgbClr val="D0E8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727448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Start with Jupyter Notebook. Graduate to JupyterLab once you are comfortable with the basics.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7 — Cloud Platforms for Jupyter Notebook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2011680" cy="1828800"/>
          </a:xfrm>
          <a:prstGeom prst="rect">
            <a:avLst/>
          </a:prstGeom>
          <a:solidFill>
            <a:srgbClr val="E8F5E9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60120"/>
            <a:ext cx="2011680" cy="41148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752" y="105156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1014984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Google Colab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01752" y="143560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66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colab.research.google.com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01752" y="176479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— Best for Beginners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01752" y="235000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account required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441448" y="960120"/>
            <a:ext cx="2011680" cy="1828800"/>
          </a:xfrm>
          <a:prstGeom prst="rect">
            <a:avLst/>
          </a:prstGeom>
          <a:solidFill>
            <a:srgbClr val="E3F2FD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441448" y="960120"/>
            <a:ext cx="2011680" cy="41148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1051560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807208" y="1014984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Kaggle Kernels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2514600" y="143560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66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kaggle.com/code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2514600" y="176479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+ GPU access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2514600" y="235000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account required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4654296" y="960120"/>
            <a:ext cx="2011680" cy="1828800"/>
          </a:xfrm>
          <a:prstGeom prst="rect">
            <a:avLst/>
          </a:prstGeom>
          <a:solidFill>
            <a:srgbClr val="FFF8E1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654296" y="960120"/>
            <a:ext cx="2011680" cy="41148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7448" y="1051560"/>
            <a:ext cx="256032" cy="25603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020056" y="1014984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Binder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4727448" y="143560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66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mybinder.org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4727448" y="176479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B5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— No login needed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4727448" y="235000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account required</a:t>
            </a:r>
            <a:endParaRPr lang="en-US" sz="850" dirty="0"/>
          </a:p>
        </p:txBody>
      </p:sp>
      <p:sp>
        <p:nvSpPr>
          <p:cNvPr id="25" name="Shape 20"/>
          <p:cNvSpPr/>
          <p:nvPr/>
        </p:nvSpPr>
        <p:spPr>
          <a:xfrm>
            <a:off x="6867144" y="960120"/>
            <a:ext cx="2011680" cy="1828800"/>
          </a:xfrm>
          <a:prstGeom prst="rect">
            <a:avLst/>
          </a:prstGeom>
          <a:solidFill>
            <a:srgbClr val="F3E5F5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867144" y="960120"/>
            <a:ext cx="2011680" cy="41148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0296" y="1051560"/>
            <a:ext cx="256032" cy="25603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232904" y="1014984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Deepnote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6940296" y="143560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66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deepnote.com</a:t>
            </a:r>
            <a:endParaRPr lang="en-US" sz="800" dirty="0"/>
          </a:p>
        </p:txBody>
      </p:sp>
      <p:sp>
        <p:nvSpPr>
          <p:cNvPr id="30" name="Text 24"/>
          <p:cNvSpPr/>
          <p:nvPr/>
        </p:nvSpPr>
        <p:spPr>
          <a:xfrm>
            <a:off x="6940296" y="176479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0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— Team collaboration</a:t>
            </a:r>
            <a:endParaRPr lang="en-US" sz="950" dirty="0"/>
          </a:p>
        </p:txBody>
      </p:sp>
      <p:sp>
        <p:nvSpPr>
          <p:cNvPr id="31" name="Text 25"/>
          <p:cNvSpPr/>
          <p:nvPr/>
        </p:nvSpPr>
        <p:spPr>
          <a:xfrm>
            <a:off x="6940296" y="235000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account required</a:t>
            </a:r>
            <a:endParaRPr lang="en-US" sz="850" dirty="0"/>
          </a:p>
        </p:txBody>
      </p:sp>
      <p:sp>
        <p:nvSpPr>
          <p:cNvPr id="32" name="Shape 26"/>
          <p:cNvSpPr/>
          <p:nvPr/>
        </p:nvSpPr>
        <p:spPr>
          <a:xfrm>
            <a:off x="228600" y="2953512"/>
            <a:ext cx="2011680" cy="1828800"/>
          </a:xfrm>
          <a:prstGeom prst="rect">
            <a:avLst/>
          </a:prstGeom>
          <a:solidFill>
            <a:srgbClr val="FBE9E7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228600" y="2953512"/>
            <a:ext cx="2011680" cy="41148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752" y="3044952"/>
            <a:ext cx="256032" cy="256032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594360" y="3008376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AWS SageMaker Lab</a:t>
            </a:r>
            <a:endParaRPr lang="en-US" sz="1000" dirty="0"/>
          </a:p>
        </p:txBody>
      </p:sp>
      <p:sp>
        <p:nvSpPr>
          <p:cNvPr id="36" name="Text 29"/>
          <p:cNvSpPr/>
          <p:nvPr/>
        </p:nvSpPr>
        <p:spPr>
          <a:xfrm>
            <a:off x="301752" y="34290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66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studiolab.sagemaker.aws</a:t>
            </a:r>
            <a:endParaRPr lang="en-US" sz="800" dirty="0"/>
          </a:p>
        </p:txBody>
      </p:sp>
      <p:sp>
        <p:nvSpPr>
          <p:cNvPr id="37" name="Text 30"/>
          <p:cNvSpPr/>
          <p:nvPr/>
        </p:nvSpPr>
        <p:spPr>
          <a:xfrm>
            <a:off x="301752" y="3758184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— Pro ML env</a:t>
            </a:r>
            <a:endParaRPr lang="en-US" sz="950" dirty="0"/>
          </a:p>
        </p:txBody>
      </p:sp>
      <p:sp>
        <p:nvSpPr>
          <p:cNvPr id="38" name="Text 31"/>
          <p:cNvSpPr/>
          <p:nvPr/>
        </p:nvSpPr>
        <p:spPr>
          <a:xfrm>
            <a:off x="301752" y="434340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account required</a:t>
            </a:r>
            <a:endParaRPr lang="en-US" sz="850" dirty="0"/>
          </a:p>
        </p:txBody>
      </p:sp>
      <p:sp>
        <p:nvSpPr>
          <p:cNvPr id="39" name="Shape 32"/>
          <p:cNvSpPr/>
          <p:nvPr/>
        </p:nvSpPr>
        <p:spPr>
          <a:xfrm>
            <a:off x="2441448" y="2953512"/>
            <a:ext cx="2011680" cy="1828800"/>
          </a:xfrm>
          <a:prstGeom prst="rect">
            <a:avLst/>
          </a:prstGeom>
          <a:solidFill>
            <a:srgbClr val="E3F2FD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2441448" y="2953512"/>
            <a:ext cx="2011680" cy="41148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600" y="3044952"/>
            <a:ext cx="256032" cy="256032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2807208" y="3008376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IBM Watson Studio</a:t>
            </a:r>
            <a:endParaRPr lang="en-US" sz="1000" dirty="0"/>
          </a:p>
        </p:txBody>
      </p:sp>
      <p:sp>
        <p:nvSpPr>
          <p:cNvPr id="43" name="Text 35"/>
          <p:cNvSpPr/>
          <p:nvPr/>
        </p:nvSpPr>
        <p:spPr>
          <a:xfrm>
            <a:off x="2514600" y="34290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66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dataplatform.cloud.ibm.com</a:t>
            </a:r>
            <a:endParaRPr lang="en-US" sz="800" dirty="0"/>
          </a:p>
        </p:txBody>
      </p:sp>
      <p:sp>
        <p:nvSpPr>
          <p:cNvPr id="44" name="Text 36"/>
          <p:cNvSpPr/>
          <p:nvPr/>
        </p:nvSpPr>
        <p:spPr>
          <a:xfrm>
            <a:off x="2514600" y="3758184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lite plan</a:t>
            </a:r>
            <a:endParaRPr lang="en-US" sz="950" dirty="0"/>
          </a:p>
        </p:txBody>
      </p:sp>
      <p:sp>
        <p:nvSpPr>
          <p:cNvPr id="45" name="Text 37"/>
          <p:cNvSpPr/>
          <p:nvPr/>
        </p:nvSpPr>
        <p:spPr>
          <a:xfrm>
            <a:off x="2514600" y="434340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account required</a:t>
            </a:r>
            <a:endParaRPr lang="en-US" sz="850" dirty="0"/>
          </a:p>
        </p:txBody>
      </p:sp>
      <p:sp>
        <p:nvSpPr>
          <p:cNvPr id="46" name="Shape 38"/>
          <p:cNvSpPr/>
          <p:nvPr/>
        </p:nvSpPr>
        <p:spPr>
          <a:xfrm>
            <a:off x="4654296" y="2953512"/>
            <a:ext cx="2011680" cy="1828800"/>
          </a:xfrm>
          <a:prstGeom prst="rect">
            <a:avLst/>
          </a:prstGeom>
          <a:solidFill>
            <a:srgbClr val="E8F5E9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Shape 39"/>
          <p:cNvSpPr/>
          <p:nvPr/>
        </p:nvSpPr>
        <p:spPr>
          <a:xfrm>
            <a:off x="4654296" y="2953512"/>
            <a:ext cx="2011680" cy="41148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pic>
        <p:nvPicPr>
          <p:cNvPr id="4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7448" y="3044952"/>
            <a:ext cx="256032" cy="256032"/>
          </a:xfrm>
          <a:prstGeom prst="rect">
            <a:avLst/>
          </a:prstGeom>
        </p:spPr>
      </p:pic>
      <p:sp>
        <p:nvSpPr>
          <p:cNvPr id="49" name="Text 40"/>
          <p:cNvSpPr/>
          <p:nvPr/>
        </p:nvSpPr>
        <p:spPr>
          <a:xfrm>
            <a:off x="5020056" y="3008376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Anaconda Cloud</a:t>
            </a:r>
            <a:endParaRPr lang="en-US" sz="1000" dirty="0"/>
          </a:p>
        </p:txBody>
      </p:sp>
      <p:sp>
        <p:nvSpPr>
          <p:cNvPr id="50" name="Text 41"/>
          <p:cNvSpPr/>
          <p:nvPr/>
        </p:nvSpPr>
        <p:spPr>
          <a:xfrm>
            <a:off x="4727448" y="34290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66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anaconda.cloud</a:t>
            </a:r>
            <a:endParaRPr lang="en-US" sz="800" dirty="0"/>
          </a:p>
        </p:txBody>
      </p:sp>
      <p:sp>
        <p:nvSpPr>
          <p:cNvPr id="51" name="Text 42"/>
          <p:cNvSpPr/>
          <p:nvPr/>
        </p:nvSpPr>
        <p:spPr>
          <a:xfrm>
            <a:off x="4727448" y="3758184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— Official Anaconda</a:t>
            </a:r>
            <a:endParaRPr lang="en-US" sz="950" dirty="0"/>
          </a:p>
        </p:txBody>
      </p:sp>
      <p:sp>
        <p:nvSpPr>
          <p:cNvPr id="52" name="Text 43"/>
          <p:cNvSpPr/>
          <p:nvPr/>
        </p:nvSpPr>
        <p:spPr>
          <a:xfrm>
            <a:off x="4727448" y="434340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account required</a:t>
            </a:r>
            <a:endParaRPr lang="en-US" sz="850" dirty="0"/>
          </a:p>
        </p:txBody>
      </p:sp>
      <p:sp>
        <p:nvSpPr>
          <p:cNvPr id="53" name="Shape 44"/>
          <p:cNvSpPr/>
          <p:nvPr/>
        </p:nvSpPr>
        <p:spPr>
          <a:xfrm>
            <a:off x="6867144" y="2953512"/>
            <a:ext cx="2011680" cy="18288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4" name="Shape 45"/>
          <p:cNvSpPr/>
          <p:nvPr/>
        </p:nvSpPr>
        <p:spPr>
          <a:xfrm>
            <a:off x="6867144" y="2953512"/>
            <a:ext cx="2011680" cy="41148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pic>
        <p:nvPicPr>
          <p:cNvPr id="5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40296" y="3044952"/>
            <a:ext cx="256032" cy="256032"/>
          </a:xfrm>
          <a:prstGeom prst="rect">
            <a:avLst/>
          </a:prstGeom>
        </p:spPr>
      </p:pic>
      <p:sp>
        <p:nvSpPr>
          <p:cNvPr id="56" name="Text 46"/>
          <p:cNvSpPr/>
          <p:nvPr/>
        </p:nvSpPr>
        <p:spPr>
          <a:xfrm>
            <a:off x="7232904" y="3008376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JetBrains Datalore</a:t>
            </a:r>
            <a:endParaRPr lang="en-US" sz="1000" dirty="0"/>
          </a:p>
        </p:txBody>
      </p:sp>
      <p:sp>
        <p:nvSpPr>
          <p:cNvPr id="57" name="Text 47"/>
          <p:cNvSpPr/>
          <p:nvPr/>
        </p:nvSpPr>
        <p:spPr>
          <a:xfrm>
            <a:off x="6940296" y="34290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66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datalore.jetbrains.com</a:t>
            </a:r>
            <a:endParaRPr lang="en-US" sz="800" dirty="0"/>
          </a:p>
        </p:txBody>
      </p:sp>
      <p:sp>
        <p:nvSpPr>
          <p:cNvPr id="58" name="Text 48"/>
          <p:cNvSpPr/>
          <p:nvPr/>
        </p:nvSpPr>
        <p:spPr>
          <a:xfrm>
            <a:off x="6940296" y="3758184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— Smart coding</a:t>
            </a:r>
            <a:endParaRPr lang="en-US" sz="950" dirty="0"/>
          </a:p>
        </p:txBody>
      </p:sp>
      <p:sp>
        <p:nvSpPr>
          <p:cNvPr id="59" name="Text 49"/>
          <p:cNvSpPr/>
          <p:nvPr/>
        </p:nvSpPr>
        <p:spPr>
          <a:xfrm>
            <a:off x="6940296" y="434340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account required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Getting Started — Google Colab (No Installation Needed)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1014984"/>
            <a:ext cx="457200" cy="45720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14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960120"/>
            <a:ext cx="7909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24128" y="101498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E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 Colab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24128" y="1261872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colab.research.google.com in your web browser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682496"/>
            <a:ext cx="457200" cy="45720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682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1627632"/>
            <a:ext cx="7909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24128" y="168249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E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 In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24128" y="1929384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 using your Gmail / Google account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350008"/>
            <a:ext cx="457200" cy="45720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350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14400" y="2295144"/>
            <a:ext cx="7909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24128" y="23500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E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 Notebook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24128" y="2596896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New Notebook to create a blank notebook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017520"/>
            <a:ext cx="457200" cy="45720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14400" y="2962656"/>
            <a:ext cx="7909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24128" y="30175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E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 &amp; Run Code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24128" y="326440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Python in a cell, then press Shift+Enter to execute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685032"/>
            <a:ext cx="457200" cy="45720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14400" y="3630168"/>
            <a:ext cx="7909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024128" y="36850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E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Save to Drive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24128" y="393192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→ Save a copy in Drive to keep your work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4352544"/>
            <a:ext cx="457200" cy="45720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352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914400" y="4297680"/>
            <a:ext cx="7909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024128" y="43525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E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Share &amp; Collaborate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24128" y="4599432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Share — teammates can view or edit in real time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4709160"/>
            <a:ext cx="8595360" cy="256032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727448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 runs on Google's servers — no installation needed. Works on any device with a web browser!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E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 REFERENCE SUMMARY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51960" cy="621792"/>
          </a:xfrm>
          <a:prstGeom prst="rect">
            <a:avLst/>
          </a:prstGeom>
          <a:solidFill>
            <a:srgbClr val="143D52"/>
          </a:solidFill>
          <a:ln w="12700">
            <a:solidFill>
              <a:srgbClr val="1A5F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101498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2E0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Install Anaconda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84048" y="12618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anaconda.com  →  Run installer  →  Follow prompts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709160" y="960120"/>
            <a:ext cx="4251960" cy="621792"/>
          </a:xfrm>
          <a:prstGeom prst="rect">
            <a:avLst/>
          </a:prstGeom>
          <a:solidFill>
            <a:srgbClr val="143D52"/>
          </a:solidFill>
          <a:ln w="12700">
            <a:solidFill>
              <a:srgbClr val="1A5F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18888" y="101498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2E0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Update Anaconda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818888" y="12618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conda update conda  &amp;&amp;  conda update anaconda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1719072"/>
            <a:ext cx="4251960" cy="621792"/>
          </a:xfrm>
          <a:prstGeom prst="rect">
            <a:avLst/>
          </a:prstGeom>
          <a:solidFill>
            <a:srgbClr val="143D52"/>
          </a:solidFill>
          <a:ln w="12700">
            <a:solidFill>
              <a:srgbClr val="1A5F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77393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2E0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 Environment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4048" y="202082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conda create --name myenv python=3.10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09160" y="1719072"/>
            <a:ext cx="4251960" cy="621792"/>
          </a:xfrm>
          <a:prstGeom prst="rect">
            <a:avLst/>
          </a:prstGeom>
          <a:solidFill>
            <a:srgbClr val="143D52"/>
          </a:solidFill>
          <a:ln w="12700">
            <a:solidFill>
              <a:srgbClr val="1A5F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18888" y="177393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2E0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Launch Jupyter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18888" y="202082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jupyter notebook  (in terminal/prompt)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478024"/>
            <a:ext cx="4251960" cy="621792"/>
          </a:xfrm>
          <a:prstGeom prst="rect">
            <a:avLst/>
          </a:prstGeom>
          <a:solidFill>
            <a:srgbClr val="143D52"/>
          </a:solidFill>
          <a:ln w="12700">
            <a:solidFill>
              <a:srgbClr val="1A5F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53288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2E0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Launch JupyterLab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84048" y="277977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jupyter lab  (in terminal/prompt)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2478024"/>
            <a:ext cx="4251960" cy="621792"/>
          </a:xfrm>
          <a:prstGeom prst="rect">
            <a:avLst/>
          </a:prstGeom>
          <a:solidFill>
            <a:srgbClr val="143D52"/>
          </a:solidFill>
          <a:ln w="12700">
            <a:solidFill>
              <a:srgbClr val="1A5F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18888" y="253288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2E0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 a Cell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18888" y="277977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Shift + Enter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3236976"/>
            <a:ext cx="4251960" cy="621792"/>
          </a:xfrm>
          <a:prstGeom prst="rect">
            <a:avLst/>
          </a:prstGeom>
          <a:solidFill>
            <a:srgbClr val="143D52"/>
          </a:solidFill>
          <a:ln w="12700">
            <a:solidFill>
              <a:srgbClr val="1A5F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32918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2E0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Cell Below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84048" y="35387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 (in Command Mode)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09160" y="3236976"/>
            <a:ext cx="4251960" cy="621792"/>
          </a:xfrm>
          <a:prstGeom prst="rect">
            <a:avLst/>
          </a:prstGeom>
          <a:solidFill>
            <a:srgbClr val="143D52"/>
          </a:solidFill>
          <a:ln w="12700">
            <a:solidFill>
              <a:srgbClr val="1A5F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18888" y="32918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2E0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Delete a Cell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18888" y="35387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+ D  (in Command Mode)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3995928"/>
            <a:ext cx="8595360" cy="594360"/>
          </a:xfrm>
          <a:prstGeom prst="rect">
            <a:avLst/>
          </a:prstGeom>
          <a:solidFill>
            <a:srgbClr val="0D7377">
              <a:alpha val="70000"/>
            </a:srgbClr>
          </a:solidFill>
          <a:ln w="12700">
            <a:solidFill>
              <a:srgbClr val="32E0C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40690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2E0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Cloud Platform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743200" y="406908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colab.research.google.com  (free, Google account)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E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32E0C4"/>
          </a:solidFill>
          <a:ln w="12700">
            <a:solidFill>
              <a:srgbClr val="32E0C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32E0C4"/>
          </a:solidFill>
          <a:ln w="12700">
            <a:solidFill>
              <a:srgbClr val="32E0C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566160" y="640080"/>
            <a:ext cx="2011680" cy="2011680"/>
          </a:xfrm>
          <a:prstGeom prst="ellipse">
            <a:avLst/>
          </a:prstGeom>
          <a:solidFill>
            <a:srgbClr val="0D7377">
              <a:alpha val="60000"/>
            </a:srgbClr>
          </a:solidFill>
          <a:ln w="25400">
            <a:solidFill>
              <a:srgbClr val="32E0C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1005840"/>
            <a:ext cx="1188720" cy="1188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788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You're Ready to Explore!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457200" y="3611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2E0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Install Anaconda  →  Launch Jupyter  →  Write Your First Notebook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laptop? Use Google Colab at colab.research.google.com — free, browser-based, no setup needed!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2E0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Happy Coding!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Anaconda &amp; Jupyter Notebook</dc:title>
  <dc:subject>PptxGenJS Presentation</dc:subject>
  <dc:creator>PptxGenJS</dc:creator>
  <cp:lastModifiedBy>PptxGenJS</cp:lastModifiedBy>
  <cp:revision>1</cp:revision>
  <dcterms:created xsi:type="dcterms:W3CDTF">2026-05-07T22:26:33Z</dcterms:created>
  <dcterms:modified xsi:type="dcterms:W3CDTF">2026-05-07T22:26:33Z</dcterms:modified>
</cp:coreProperties>
</file>